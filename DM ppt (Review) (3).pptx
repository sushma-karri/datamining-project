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4"/>
  </p:sldMasterIdLst>
  <p:notesMasterIdLst>
    <p:notesMasterId r:id="rId26"/>
  </p:notesMasterIdLst>
  <p:sldIdLst>
    <p:sldId id="256" r:id="rId5"/>
    <p:sldId id="276" r:id="rId6"/>
    <p:sldId id="257" r:id="rId7"/>
    <p:sldId id="258" r:id="rId8"/>
    <p:sldId id="259" r:id="rId9"/>
    <p:sldId id="260" r:id="rId10"/>
    <p:sldId id="262" r:id="rId11"/>
    <p:sldId id="297" r:id="rId12"/>
    <p:sldId id="261" r:id="rId13"/>
    <p:sldId id="263" r:id="rId14"/>
    <p:sldId id="264" r:id="rId15"/>
    <p:sldId id="265" r:id="rId16"/>
    <p:sldId id="268" r:id="rId17"/>
    <p:sldId id="267" r:id="rId18"/>
    <p:sldId id="296" r:id="rId19"/>
    <p:sldId id="295" r:id="rId20"/>
    <p:sldId id="269" r:id="rId21"/>
    <p:sldId id="298" r:id="rId22"/>
    <p:sldId id="270" r:id="rId23"/>
    <p:sldId id="271" r:id="rId24"/>
    <p:sldId id="277" r:id="rId25"/>
  </p:sldIdLst>
  <p:sldSz cx="9144000" cy="5143500" type="screen16x9"/>
  <p:notesSz cx="6858000" cy="9144000"/>
  <p:embeddedFontLst>
    <p:embeddedFont>
      <p:font typeface="Quicksand" panose="020B060402020202020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575966E3-CA03-4380-9174-0ECDC200D775}">
          <p14:sldIdLst>
            <p14:sldId id="256"/>
            <p14:sldId id="276"/>
            <p14:sldId id="257"/>
            <p14:sldId id="258"/>
            <p14:sldId id="259"/>
            <p14:sldId id="260"/>
            <p14:sldId id="262"/>
            <p14:sldId id="297"/>
            <p14:sldId id="261"/>
            <p14:sldId id="263"/>
            <p14:sldId id="264"/>
            <p14:sldId id="265"/>
            <p14:sldId id="268"/>
            <p14:sldId id="267"/>
            <p14:sldId id="296"/>
            <p14:sldId id="295"/>
            <p14:sldId id="269"/>
            <p14:sldId id="298"/>
            <p14:sldId id="270"/>
            <p14:sldId id="271"/>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E042EE-030E-48AD-AEE1-48DBF1C2F338}">
  <a:tblStyle styleId="{8CE042EE-030E-48AD-AEE1-48DBF1C2F33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71A6B3E-507F-4017-96D8-7895C4FAF287}"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103" d="100"/>
          <a:sy n="103" d="100"/>
        </p:scale>
        <p:origin x="89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5ed75ccf_0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5ed75ccf_0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1F288C11-538A-0CBF-5B36-5893761E4312}"/>
            </a:ext>
          </a:extLst>
        </p:cNvPr>
        <p:cNvGrpSpPr/>
        <p:nvPr/>
      </p:nvGrpSpPr>
      <p:grpSpPr>
        <a:xfrm>
          <a:off x="0" y="0"/>
          <a:ext cx="0" cy="0"/>
          <a:chOff x="0" y="0"/>
          <a:chExt cx="0" cy="0"/>
        </a:xfrm>
      </p:grpSpPr>
      <p:sp>
        <p:nvSpPr>
          <p:cNvPr id="99" name="Google Shape;99;g35f391192_09:notes">
            <a:extLst>
              <a:ext uri="{FF2B5EF4-FFF2-40B4-BE49-F238E27FC236}">
                <a16:creationId xmlns:a16="http://schemas.microsoft.com/office/drawing/2014/main" id="{3E9D0A4A-0D4E-CBC6-158A-BA0758DAFF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5f391192_09:notes">
            <a:extLst>
              <a:ext uri="{FF2B5EF4-FFF2-40B4-BE49-F238E27FC236}">
                <a16:creationId xmlns:a16="http://schemas.microsoft.com/office/drawing/2014/main" id="{2A422B3B-8CF0-889B-7B34-CDCF58A606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97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C2479F2-428F-0FD2-F9CC-64A2D98C4ABE}"/>
            </a:ext>
          </a:extLst>
        </p:cNvPr>
        <p:cNvGrpSpPr/>
        <p:nvPr/>
      </p:nvGrpSpPr>
      <p:grpSpPr>
        <a:xfrm>
          <a:off x="0" y="0"/>
          <a:ext cx="0" cy="0"/>
          <a:chOff x="0" y="0"/>
          <a:chExt cx="0" cy="0"/>
        </a:xfrm>
      </p:grpSpPr>
      <p:sp>
        <p:nvSpPr>
          <p:cNvPr id="156" name="Google Shape;156;g35f391192_073:notes">
            <a:extLst>
              <a:ext uri="{FF2B5EF4-FFF2-40B4-BE49-F238E27FC236}">
                <a16:creationId xmlns:a16="http://schemas.microsoft.com/office/drawing/2014/main" id="{3DBCB5C4-4CE8-FCB7-CF63-A1C0156C40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5f391192_073:notes">
            <a:extLst>
              <a:ext uri="{FF2B5EF4-FFF2-40B4-BE49-F238E27FC236}">
                <a16:creationId xmlns:a16="http://schemas.microsoft.com/office/drawing/2014/main" id="{0E429584-3634-AD86-7315-DCD713F9A3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3483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1FC252C-D674-2614-5DA8-F501D059086F}"/>
            </a:ext>
          </a:extLst>
        </p:cNvPr>
        <p:cNvGrpSpPr/>
        <p:nvPr/>
      </p:nvGrpSpPr>
      <p:grpSpPr>
        <a:xfrm>
          <a:off x="0" y="0"/>
          <a:ext cx="0" cy="0"/>
          <a:chOff x="0" y="0"/>
          <a:chExt cx="0" cy="0"/>
        </a:xfrm>
      </p:grpSpPr>
      <p:sp>
        <p:nvSpPr>
          <p:cNvPr id="156" name="Google Shape;156;g35f391192_073:notes">
            <a:extLst>
              <a:ext uri="{FF2B5EF4-FFF2-40B4-BE49-F238E27FC236}">
                <a16:creationId xmlns:a16="http://schemas.microsoft.com/office/drawing/2014/main" id="{A2F2D0C5-C5FA-0BB3-1CBF-120A59CCB4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5f391192_073:notes">
            <a:extLst>
              <a:ext uri="{FF2B5EF4-FFF2-40B4-BE49-F238E27FC236}">
                <a16:creationId xmlns:a16="http://schemas.microsoft.com/office/drawing/2014/main" id="{344353DC-16B2-CB25-20EF-4C3953C41C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2756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5ed75ccf_0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5ed75ccf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319175" y="2233519"/>
            <a:ext cx="6680400" cy="1159800"/>
          </a:xfrm>
          <a:prstGeom prst="rect">
            <a:avLst/>
          </a:prstGeom>
        </p:spPr>
        <p:txBody>
          <a:bodyPr spcFirstLastPara="1" wrap="square" lIns="91425" tIns="91425" rIns="91425" bIns="91425" anchor="t"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cxnSp>
        <p:nvCxnSpPr>
          <p:cNvPr id="11" name="Google Shape;11;p2"/>
          <p:cNvCxnSpPr>
            <a:stCxn id="12" idx="4"/>
          </p:cNvCxnSpPr>
          <p:nvPr/>
        </p:nvCxnSpPr>
        <p:spPr>
          <a:xfrm>
            <a:off x="939750" y="2832475"/>
            <a:ext cx="0" cy="2310900"/>
          </a:xfrm>
          <a:prstGeom prst="straightConnector1">
            <a:avLst/>
          </a:prstGeom>
          <a:noFill/>
          <a:ln w="9525" cap="flat" cmpd="sng">
            <a:solidFill>
              <a:schemeClr val="accent5"/>
            </a:solidFill>
            <a:prstDash val="solid"/>
            <a:round/>
            <a:headEnd type="none" w="med" len="med"/>
            <a:tailEnd type="none" w="med" len="med"/>
          </a:ln>
        </p:spPr>
      </p:cxnSp>
      <p:sp>
        <p:nvSpPr>
          <p:cNvPr id="12" name="Google Shape;12;p2"/>
          <p:cNvSpPr/>
          <p:nvPr/>
        </p:nvSpPr>
        <p:spPr>
          <a:xfrm>
            <a:off x="845250" y="2643475"/>
            <a:ext cx="189000" cy="1890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3"/>
        <p:cNvGrpSpPr/>
        <p:nvPr/>
      </p:nvGrpSpPr>
      <p:grpSpPr>
        <a:xfrm>
          <a:off x="0" y="0"/>
          <a:ext cx="0" cy="0"/>
          <a:chOff x="0" y="0"/>
          <a:chExt cx="0" cy="0"/>
        </a:xfrm>
      </p:grpSpPr>
      <p:sp>
        <p:nvSpPr>
          <p:cNvPr id="14" name="Google Shape;14;p3"/>
          <p:cNvSpPr txBox="1">
            <a:spLocks noGrp="1"/>
          </p:cNvSpPr>
          <p:nvPr>
            <p:ph type="ctrTitle"/>
          </p:nvPr>
        </p:nvSpPr>
        <p:spPr>
          <a:xfrm>
            <a:off x="1530175" y="2307788"/>
            <a:ext cx="6767100" cy="53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5" name="Google Shape;15;p3"/>
          <p:cNvSpPr txBox="1">
            <a:spLocks noGrp="1"/>
          </p:cNvSpPr>
          <p:nvPr>
            <p:ph type="subTitle" idx="1"/>
          </p:nvPr>
        </p:nvSpPr>
        <p:spPr>
          <a:xfrm>
            <a:off x="1567326" y="2782913"/>
            <a:ext cx="6927900" cy="3531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6" name="Google Shape;16;p3"/>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17" name="Google Shape;17;p3"/>
          <p:cNvCxnSpPr/>
          <p:nvPr/>
        </p:nvCxnSpPr>
        <p:spPr>
          <a:xfrm>
            <a:off x="939645" y="0"/>
            <a:ext cx="0" cy="5143500"/>
          </a:xfrm>
          <a:prstGeom prst="straightConnector1">
            <a:avLst/>
          </a:prstGeom>
          <a:noFill/>
          <a:ln w="9525" cap="flat" cmpd="sng">
            <a:solidFill>
              <a:schemeClr val="accent5"/>
            </a:solidFill>
            <a:prstDash val="solid"/>
            <a:round/>
            <a:headEnd type="none" w="med" len="med"/>
            <a:tailEnd type="none" w="med" len="med"/>
          </a:ln>
        </p:spPr>
      </p:cxnSp>
      <p:sp>
        <p:nvSpPr>
          <p:cNvPr id="18" name="Google Shape;18;p3"/>
          <p:cNvSpPr/>
          <p:nvPr/>
        </p:nvSpPr>
        <p:spPr>
          <a:xfrm flipH="1">
            <a:off x="632556" y="2267403"/>
            <a:ext cx="614400" cy="6144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9"/>
        <p:cNvGrpSpPr/>
        <p:nvPr/>
      </p:nvGrpSpPr>
      <p:grpSpPr>
        <a:xfrm>
          <a:off x="0" y="0"/>
          <a:ext cx="0" cy="0"/>
          <a:chOff x="0" y="0"/>
          <a:chExt cx="0" cy="0"/>
        </a:xfrm>
      </p:grpSpPr>
      <p:cxnSp>
        <p:nvCxnSpPr>
          <p:cNvPr id="20" name="Google Shape;20;p4"/>
          <p:cNvCxnSpPr/>
          <p:nvPr/>
        </p:nvCxnSpPr>
        <p:spPr>
          <a:xfrm>
            <a:off x="945630" y="0"/>
            <a:ext cx="0" cy="5143500"/>
          </a:xfrm>
          <a:prstGeom prst="straightConnector1">
            <a:avLst/>
          </a:prstGeom>
          <a:noFill/>
          <a:ln w="9525" cap="flat" cmpd="sng">
            <a:solidFill>
              <a:schemeClr val="accent5"/>
            </a:solidFill>
            <a:prstDash val="solid"/>
            <a:round/>
            <a:headEnd type="none" w="med" len="med"/>
            <a:tailEnd type="none" w="med" len="med"/>
          </a:ln>
        </p:spPr>
      </p:cxnSp>
      <p:sp>
        <p:nvSpPr>
          <p:cNvPr id="21" name="Google Shape;21;p4"/>
          <p:cNvSpPr/>
          <p:nvPr/>
        </p:nvSpPr>
        <p:spPr>
          <a:xfrm>
            <a:off x="638325" y="2267417"/>
            <a:ext cx="614400" cy="614400"/>
          </a:xfrm>
          <a:prstGeom prst="ellipse">
            <a:avLst/>
          </a:prstGeom>
          <a:solidFill>
            <a:srgbClr val="2E3037"/>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body" idx="1"/>
          </p:nvPr>
        </p:nvSpPr>
        <p:spPr>
          <a:xfrm>
            <a:off x="1633225" y="2161800"/>
            <a:ext cx="6700500" cy="819900"/>
          </a:xfrm>
          <a:prstGeom prst="rect">
            <a:avLst/>
          </a:prstGeom>
        </p:spPr>
        <p:txBody>
          <a:bodyPr spcFirstLastPara="1" wrap="square" lIns="91425" tIns="91425" rIns="91425" bIns="91425" anchor="ctr" anchorCtr="0">
            <a:noAutofit/>
          </a:bodyPr>
          <a:lstStyle>
            <a:lvl1pPr marL="457200" lvl="0" indent="-406400" rtl="0">
              <a:spcBef>
                <a:spcPts val="600"/>
              </a:spcBef>
              <a:spcAft>
                <a:spcPts val="0"/>
              </a:spcAft>
              <a:buSzPts val="2800"/>
              <a:buChar char="◦"/>
              <a:defRPr sz="2800" i="1">
                <a:solidFill>
                  <a:schemeClr val="accent1"/>
                </a:solidFill>
              </a:defRPr>
            </a:lvl1pPr>
            <a:lvl2pPr marL="914400" lvl="1" indent="-406400" rtl="0">
              <a:spcBef>
                <a:spcPts val="0"/>
              </a:spcBef>
              <a:spcAft>
                <a:spcPts val="0"/>
              </a:spcAft>
              <a:buSzPts val="2800"/>
              <a:buChar char="▫"/>
              <a:defRPr sz="2800" i="1">
                <a:solidFill>
                  <a:schemeClr val="accent1"/>
                </a:solidFill>
              </a:defRPr>
            </a:lvl2pPr>
            <a:lvl3pPr marL="1371600" lvl="2" indent="-406400" rtl="0">
              <a:spcBef>
                <a:spcPts val="0"/>
              </a:spcBef>
              <a:spcAft>
                <a:spcPts val="0"/>
              </a:spcAft>
              <a:buSzPts val="2800"/>
              <a:buChar char="■"/>
              <a:defRPr sz="2800" i="1">
                <a:solidFill>
                  <a:schemeClr val="accent1"/>
                </a:solidFill>
              </a:defRPr>
            </a:lvl3pPr>
            <a:lvl4pPr marL="1828800" lvl="3" indent="-406400" rtl="0">
              <a:spcBef>
                <a:spcPts val="0"/>
              </a:spcBef>
              <a:spcAft>
                <a:spcPts val="0"/>
              </a:spcAft>
              <a:buClr>
                <a:schemeClr val="accent1"/>
              </a:buClr>
              <a:buSzPts val="2800"/>
              <a:buChar char="●"/>
              <a:defRPr sz="2800" i="1">
                <a:solidFill>
                  <a:schemeClr val="accent1"/>
                </a:solidFill>
              </a:defRPr>
            </a:lvl4pPr>
            <a:lvl5pPr marL="2286000" lvl="4" indent="-406400" rtl="0">
              <a:spcBef>
                <a:spcPts val="0"/>
              </a:spcBef>
              <a:spcAft>
                <a:spcPts val="0"/>
              </a:spcAft>
              <a:buClr>
                <a:schemeClr val="accent1"/>
              </a:buClr>
              <a:buSzPts val="2800"/>
              <a:buChar char="○"/>
              <a:defRPr sz="2800" i="1">
                <a:solidFill>
                  <a:schemeClr val="accent1"/>
                </a:solidFill>
              </a:defRPr>
            </a:lvl5pPr>
            <a:lvl6pPr marL="2743200" lvl="5" indent="-406400" rtl="0">
              <a:spcBef>
                <a:spcPts val="0"/>
              </a:spcBef>
              <a:spcAft>
                <a:spcPts val="0"/>
              </a:spcAft>
              <a:buClr>
                <a:schemeClr val="accent1"/>
              </a:buClr>
              <a:buSzPts val="2800"/>
              <a:buChar char="■"/>
              <a:defRPr sz="2800" i="1">
                <a:solidFill>
                  <a:schemeClr val="accent1"/>
                </a:solidFill>
              </a:defRPr>
            </a:lvl6pPr>
            <a:lvl7pPr marL="3200400" lvl="6" indent="-406400" rtl="0">
              <a:spcBef>
                <a:spcPts val="0"/>
              </a:spcBef>
              <a:spcAft>
                <a:spcPts val="0"/>
              </a:spcAft>
              <a:buClr>
                <a:schemeClr val="accent1"/>
              </a:buClr>
              <a:buSzPts val="2800"/>
              <a:buChar char="●"/>
              <a:defRPr sz="2800" i="1">
                <a:solidFill>
                  <a:schemeClr val="accent1"/>
                </a:solidFill>
              </a:defRPr>
            </a:lvl7pPr>
            <a:lvl8pPr marL="3657600" lvl="7" indent="-406400" rtl="0">
              <a:spcBef>
                <a:spcPts val="0"/>
              </a:spcBef>
              <a:spcAft>
                <a:spcPts val="0"/>
              </a:spcAft>
              <a:buClr>
                <a:schemeClr val="accent1"/>
              </a:buClr>
              <a:buSzPts val="2800"/>
              <a:buChar char="○"/>
              <a:defRPr sz="2800" i="1">
                <a:solidFill>
                  <a:schemeClr val="accent1"/>
                </a:solidFill>
              </a:defRPr>
            </a:lvl8pPr>
            <a:lvl9pPr marL="4114800" lvl="8" indent="-406400">
              <a:spcBef>
                <a:spcPts val="0"/>
              </a:spcBef>
              <a:spcAft>
                <a:spcPts val="0"/>
              </a:spcAft>
              <a:buClr>
                <a:schemeClr val="accent1"/>
              </a:buClr>
              <a:buSzPts val="2800"/>
              <a:buChar char="■"/>
              <a:defRPr sz="2800" i="1">
                <a:solidFill>
                  <a:schemeClr val="accent1"/>
                </a:solidFill>
              </a:defRPr>
            </a:lvl9pPr>
          </a:lstStyle>
          <a:p>
            <a:endParaRPr/>
          </a:p>
        </p:txBody>
      </p:sp>
      <p:sp>
        <p:nvSpPr>
          <p:cNvPr id="23" name="Google Shape;23;p4"/>
          <p:cNvSpPr txBox="1"/>
          <p:nvPr/>
        </p:nvSpPr>
        <p:spPr>
          <a:xfrm>
            <a:off x="286541" y="2244031"/>
            <a:ext cx="13062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800" b="1">
                <a:solidFill>
                  <a:schemeClr val="accent1"/>
                </a:solidFill>
                <a:latin typeface="Quicksand"/>
                <a:ea typeface="Quicksand"/>
                <a:cs typeface="Quicksand"/>
                <a:sym typeface="Quicksand"/>
              </a:rPr>
              <a:t>“</a:t>
            </a:r>
            <a:endParaRPr sz="4800" b="1">
              <a:solidFill>
                <a:schemeClr val="accent1"/>
              </a:solidFill>
              <a:latin typeface="Quicksand"/>
              <a:ea typeface="Quicksand"/>
              <a:cs typeface="Quicksand"/>
              <a:sym typeface="Quicksand"/>
            </a:endParaRPr>
          </a:p>
        </p:txBody>
      </p:sp>
      <p:sp>
        <p:nvSpPr>
          <p:cNvPr id="24" name="Google Shape;24;p4"/>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lvl1pPr lvl="0">
              <a:buNone/>
              <a:defRPr>
                <a:solidFill>
                  <a:srgbClr val="39C0BA"/>
                </a:solidFill>
              </a:defRPr>
            </a:lvl1pPr>
            <a:lvl2pPr lvl="1">
              <a:buNone/>
              <a:defRPr>
                <a:solidFill>
                  <a:srgbClr val="39C0BA"/>
                </a:solidFill>
              </a:defRPr>
            </a:lvl2pPr>
            <a:lvl3pPr lvl="2">
              <a:buNone/>
              <a:defRPr>
                <a:solidFill>
                  <a:srgbClr val="39C0BA"/>
                </a:solidFill>
              </a:defRPr>
            </a:lvl3pPr>
            <a:lvl4pPr lvl="3">
              <a:buNone/>
              <a:defRPr>
                <a:solidFill>
                  <a:srgbClr val="39C0BA"/>
                </a:solidFill>
              </a:defRPr>
            </a:lvl4pPr>
            <a:lvl5pPr lvl="4">
              <a:buNone/>
              <a:defRPr>
                <a:solidFill>
                  <a:srgbClr val="39C0BA"/>
                </a:solidFill>
              </a:defRPr>
            </a:lvl5pPr>
            <a:lvl6pPr lvl="5">
              <a:buNone/>
              <a:defRPr>
                <a:solidFill>
                  <a:srgbClr val="39C0BA"/>
                </a:solidFill>
              </a:defRPr>
            </a:lvl6pPr>
            <a:lvl7pPr lvl="6">
              <a:buNone/>
              <a:defRPr>
                <a:solidFill>
                  <a:srgbClr val="39C0BA"/>
                </a:solidFill>
              </a:defRPr>
            </a:lvl7pPr>
            <a:lvl8pPr lvl="7">
              <a:buNone/>
              <a:defRPr>
                <a:solidFill>
                  <a:srgbClr val="39C0BA"/>
                </a:solidFill>
              </a:defRPr>
            </a:lvl8pPr>
            <a:lvl9pPr lvl="8">
              <a:buNone/>
              <a:defRPr>
                <a:solidFill>
                  <a:srgbClr val="39C0BA"/>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1165475" y="549649"/>
            <a:ext cx="6858000" cy="345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Font typeface="Quicksand"/>
              <a:buNone/>
              <a:defRPr sz="1800">
                <a:latin typeface="Quicksand"/>
                <a:ea typeface="Quicksand"/>
                <a:cs typeface="Quicksand"/>
                <a:sym typeface="Quicksand"/>
              </a:defRPr>
            </a:lvl1pPr>
            <a:lvl2pPr lvl="1" rtl="0">
              <a:spcBef>
                <a:spcPts val="0"/>
              </a:spcBef>
              <a:spcAft>
                <a:spcPts val="0"/>
              </a:spcAft>
              <a:buSzPts val="1800"/>
              <a:buFont typeface="Quicksand"/>
              <a:buNone/>
              <a:defRPr sz="1800">
                <a:latin typeface="Quicksand"/>
                <a:ea typeface="Quicksand"/>
                <a:cs typeface="Quicksand"/>
                <a:sym typeface="Quicksand"/>
              </a:defRPr>
            </a:lvl2pPr>
            <a:lvl3pPr lvl="2" rtl="0">
              <a:spcBef>
                <a:spcPts val="0"/>
              </a:spcBef>
              <a:spcAft>
                <a:spcPts val="0"/>
              </a:spcAft>
              <a:buSzPts val="1800"/>
              <a:buFont typeface="Quicksand"/>
              <a:buNone/>
              <a:defRPr sz="1800">
                <a:latin typeface="Quicksand"/>
                <a:ea typeface="Quicksand"/>
                <a:cs typeface="Quicksand"/>
                <a:sym typeface="Quicksand"/>
              </a:defRPr>
            </a:lvl3pPr>
            <a:lvl4pPr lvl="3" rtl="0">
              <a:spcBef>
                <a:spcPts val="0"/>
              </a:spcBef>
              <a:spcAft>
                <a:spcPts val="0"/>
              </a:spcAft>
              <a:buSzPts val="1800"/>
              <a:buFont typeface="Quicksand"/>
              <a:buNone/>
              <a:defRPr sz="1800">
                <a:latin typeface="Quicksand"/>
                <a:ea typeface="Quicksand"/>
                <a:cs typeface="Quicksand"/>
                <a:sym typeface="Quicksand"/>
              </a:defRPr>
            </a:lvl4pPr>
            <a:lvl5pPr lvl="4" rtl="0">
              <a:spcBef>
                <a:spcPts val="0"/>
              </a:spcBef>
              <a:spcAft>
                <a:spcPts val="0"/>
              </a:spcAft>
              <a:buSzPts val="1800"/>
              <a:buFont typeface="Quicksand"/>
              <a:buNone/>
              <a:defRPr sz="1800">
                <a:latin typeface="Quicksand"/>
                <a:ea typeface="Quicksand"/>
                <a:cs typeface="Quicksand"/>
                <a:sym typeface="Quicksand"/>
              </a:defRPr>
            </a:lvl5pPr>
            <a:lvl6pPr lvl="5" rtl="0">
              <a:spcBef>
                <a:spcPts val="0"/>
              </a:spcBef>
              <a:spcAft>
                <a:spcPts val="0"/>
              </a:spcAft>
              <a:buSzPts val="1800"/>
              <a:buFont typeface="Quicksand"/>
              <a:buNone/>
              <a:defRPr sz="1800">
                <a:latin typeface="Quicksand"/>
                <a:ea typeface="Quicksand"/>
                <a:cs typeface="Quicksand"/>
                <a:sym typeface="Quicksand"/>
              </a:defRPr>
            </a:lvl6pPr>
            <a:lvl7pPr lvl="6" rtl="0">
              <a:spcBef>
                <a:spcPts val="0"/>
              </a:spcBef>
              <a:spcAft>
                <a:spcPts val="0"/>
              </a:spcAft>
              <a:buSzPts val="1800"/>
              <a:buFont typeface="Quicksand"/>
              <a:buNone/>
              <a:defRPr sz="1800">
                <a:latin typeface="Quicksand"/>
                <a:ea typeface="Quicksand"/>
                <a:cs typeface="Quicksand"/>
                <a:sym typeface="Quicksand"/>
              </a:defRPr>
            </a:lvl7pPr>
            <a:lvl8pPr lvl="7" rtl="0">
              <a:spcBef>
                <a:spcPts val="0"/>
              </a:spcBef>
              <a:spcAft>
                <a:spcPts val="0"/>
              </a:spcAft>
              <a:buSzPts val="1800"/>
              <a:buFont typeface="Quicksand"/>
              <a:buNone/>
              <a:defRPr sz="1800">
                <a:latin typeface="Quicksand"/>
                <a:ea typeface="Quicksand"/>
                <a:cs typeface="Quicksand"/>
                <a:sym typeface="Quicksand"/>
              </a:defRPr>
            </a:lvl8pPr>
            <a:lvl9pPr lvl="8" rtl="0">
              <a:spcBef>
                <a:spcPts val="0"/>
              </a:spcBef>
              <a:spcAft>
                <a:spcPts val="0"/>
              </a:spcAft>
              <a:buSzPts val="1800"/>
              <a:buFont typeface="Quicksand"/>
              <a:buNone/>
              <a:defRPr sz="1800">
                <a:latin typeface="Quicksand"/>
                <a:ea typeface="Quicksand"/>
                <a:cs typeface="Quicksand"/>
                <a:sym typeface="Quicksand"/>
              </a:defRPr>
            </a:lvl9pPr>
          </a:lstStyle>
          <a:p>
            <a:endParaRPr/>
          </a:p>
        </p:txBody>
      </p:sp>
      <p:sp>
        <p:nvSpPr>
          <p:cNvPr id="27" name="Google Shape;27;p5"/>
          <p:cNvSpPr txBox="1">
            <a:spLocks noGrp="1"/>
          </p:cNvSpPr>
          <p:nvPr>
            <p:ph type="body" idx="1"/>
          </p:nvPr>
        </p:nvSpPr>
        <p:spPr>
          <a:xfrm>
            <a:off x="1165498" y="1086799"/>
            <a:ext cx="6858000" cy="37257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Clr>
                <a:srgbClr val="F3F3F3"/>
              </a:buClr>
              <a:buSzPts val="3000"/>
              <a:buFont typeface="Quicksand"/>
              <a:buChar char="◦"/>
              <a:defRPr sz="3000">
                <a:solidFill>
                  <a:srgbClr val="F3F3F3"/>
                </a:solidFill>
                <a:latin typeface="Quicksand"/>
                <a:ea typeface="Quicksand"/>
                <a:cs typeface="Quicksand"/>
                <a:sym typeface="Quicksand"/>
              </a:defRPr>
            </a:lvl1pPr>
            <a:lvl2pPr marL="914400" lvl="1" indent="-381000" rtl="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2pPr>
            <a:lvl3pPr marL="1371600" lvl="2" indent="-381000" rtl="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3pPr>
            <a:lvl4pPr marL="1828800" lvl="3" indent="-342900" rtl="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4pPr>
            <a:lvl5pPr marL="2286000" lvl="4" indent="-342900" rtl="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5pPr>
            <a:lvl6pPr marL="2743200" lvl="5" indent="-342900" rtl="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6pPr>
            <a:lvl7pPr marL="3200400" lvl="6" indent="-342900" rtl="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7pPr>
            <a:lvl8pPr marL="3657600" lvl="7" indent="-342900" rtl="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8pPr>
            <a:lvl9pPr marL="4114800" lvl="8" indent="-342900" rtl="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9pPr>
          </a:lstStyle>
          <a:p>
            <a:endParaRPr/>
          </a:p>
        </p:txBody>
      </p:sp>
      <p:sp>
        <p:nvSpPr>
          <p:cNvPr id="28" name="Google Shape;28;p5"/>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9" name="Google Shape;29;p5"/>
          <p:cNvCxnSpPr/>
          <p:nvPr/>
        </p:nvCxnSpPr>
        <p:spPr>
          <a:xfrm>
            <a:off x="945638" y="0"/>
            <a:ext cx="0" cy="5143500"/>
          </a:xfrm>
          <a:prstGeom prst="straightConnector1">
            <a:avLst/>
          </a:prstGeom>
          <a:noFill/>
          <a:ln w="9525" cap="flat" cmpd="sng">
            <a:solidFill>
              <a:schemeClr val="accent5"/>
            </a:solidFill>
            <a:prstDash val="solid"/>
            <a:round/>
            <a:headEnd type="none" w="med" len="med"/>
            <a:tailEnd type="none" w="med" len="med"/>
          </a:ln>
        </p:spPr>
      </p:cxnSp>
      <p:sp>
        <p:nvSpPr>
          <p:cNvPr id="30" name="Google Shape;30;p5"/>
          <p:cNvSpPr/>
          <p:nvPr/>
        </p:nvSpPr>
        <p:spPr>
          <a:xfrm>
            <a:off x="874396" y="605794"/>
            <a:ext cx="142500" cy="1425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p:nvPr/>
        </p:nvSpPr>
        <p:spPr>
          <a:xfrm>
            <a:off x="844675" y="1400721"/>
            <a:ext cx="201900" cy="201900"/>
          </a:xfrm>
          <a:prstGeom prst="ellipse">
            <a:avLst/>
          </a:prstGeom>
          <a:solidFill>
            <a:srgbClr val="2E3037"/>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1165475" y="549649"/>
            <a:ext cx="6858000" cy="3450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4" name="Google Shape;34;p6"/>
          <p:cNvSpPr txBox="1">
            <a:spLocks noGrp="1"/>
          </p:cNvSpPr>
          <p:nvPr>
            <p:ph type="body" idx="1"/>
          </p:nvPr>
        </p:nvSpPr>
        <p:spPr>
          <a:xfrm>
            <a:off x="1165475" y="1174117"/>
            <a:ext cx="33069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5" name="Google Shape;35;p6"/>
          <p:cNvSpPr txBox="1">
            <a:spLocks noGrp="1"/>
          </p:cNvSpPr>
          <p:nvPr>
            <p:ph type="body" idx="2"/>
          </p:nvPr>
        </p:nvSpPr>
        <p:spPr>
          <a:xfrm>
            <a:off x="4671570" y="1174117"/>
            <a:ext cx="33069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6" name="Google Shape;36;p6"/>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37" name="Google Shape;37;p6"/>
          <p:cNvCxnSpPr/>
          <p:nvPr/>
        </p:nvCxnSpPr>
        <p:spPr>
          <a:xfrm>
            <a:off x="945638" y="0"/>
            <a:ext cx="0" cy="5143500"/>
          </a:xfrm>
          <a:prstGeom prst="straightConnector1">
            <a:avLst/>
          </a:prstGeom>
          <a:noFill/>
          <a:ln w="9525" cap="flat" cmpd="sng">
            <a:solidFill>
              <a:schemeClr val="accent5"/>
            </a:solidFill>
            <a:prstDash val="solid"/>
            <a:round/>
            <a:headEnd type="none" w="med" len="med"/>
            <a:tailEnd type="none" w="med" len="med"/>
          </a:ln>
        </p:spPr>
      </p:cxnSp>
      <p:sp>
        <p:nvSpPr>
          <p:cNvPr id="38" name="Google Shape;38;p6"/>
          <p:cNvSpPr/>
          <p:nvPr/>
        </p:nvSpPr>
        <p:spPr>
          <a:xfrm>
            <a:off x="874396" y="605794"/>
            <a:ext cx="142500" cy="1425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6"/>
          <p:cNvSpPr/>
          <p:nvPr/>
        </p:nvSpPr>
        <p:spPr>
          <a:xfrm>
            <a:off x="844675" y="1400721"/>
            <a:ext cx="201900" cy="201900"/>
          </a:xfrm>
          <a:prstGeom prst="ellipse">
            <a:avLst/>
          </a:prstGeom>
          <a:solidFill>
            <a:srgbClr val="2E3037"/>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165475" y="549649"/>
            <a:ext cx="6858000" cy="345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42" name="Google Shape;42;p7"/>
          <p:cNvSpPr txBox="1">
            <a:spLocks noGrp="1"/>
          </p:cNvSpPr>
          <p:nvPr>
            <p:ph type="body" idx="1"/>
          </p:nvPr>
        </p:nvSpPr>
        <p:spPr>
          <a:xfrm>
            <a:off x="1165475" y="1192298"/>
            <a:ext cx="2403600" cy="36705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43" name="Google Shape;43;p7"/>
          <p:cNvSpPr txBox="1">
            <a:spLocks noGrp="1"/>
          </p:cNvSpPr>
          <p:nvPr>
            <p:ph type="body" idx="2"/>
          </p:nvPr>
        </p:nvSpPr>
        <p:spPr>
          <a:xfrm>
            <a:off x="3692249" y="1192298"/>
            <a:ext cx="2403600" cy="36705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44" name="Google Shape;44;p7"/>
          <p:cNvSpPr txBox="1">
            <a:spLocks noGrp="1"/>
          </p:cNvSpPr>
          <p:nvPr>
            <p:ph type="body" idx="3"/>
          </p:nvPr>
        </p:nvSpPr>
        <p:spPr>
          <a:xfrm>
            <a:off x="6219023" y="1192298"/>
            <a:ext cx="2403600" cy="36705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45" name="Google Shape;45;p7"/>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46" name="Google Shape;46;p7"/>
          <p:cNvCxnSpPr/>
          <p:nvPr/>
        </p:nvCxnSpPr>
        <p:spPr>
          <a:xfrm>
            <a:off x="945638" y="0"/>
            <a:ext cx="0" cy="5143500"/>
          </a:xfrm>
          <a:prstGeom prst="straightConnector1">
            <a:avLst/>
          </a:prstGeom>
          <a:noFill/>
          <a:ln w="9525" cap="flat" cmpd="sng">
            <a:solidFill>
              <a:schemeClr val="accent5"/>
            </a:solidFill>
            <a:prstDash val="solid"/>
            <a:round/>
            <a:headEnd type="none" w="med" len="med"/>
            <a:tailEnd type="none" w="med" len="med"/>
          </a:ln>
        </p:spPr>
      </p:cxnSp>
      <p:sp>
        <p:nvSpPr>
          <p:cNvPr id="47" name="Google Shape;47;p7"/>
          <p:cNvSpPr/>
          <p:nvPr/>
        </p:nvSpPr>
        <p:spPr>
          <a:xfrm>
            <a:off x="874396" y="605794"/>
            <a:ext cx="142500" cy="1425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7"/>
          <p:cNvSpPr/>
          <p:nvPr/>
        </p:nvSpPr>
        <p:spPr>
          <a:xfrm>
            <a:off x="844675" y="1400721"/>
            <a:ext cx="201900" cy="201900"/>
          </a:xfrm>
          <a:prstGeom prst="ellipse">
            <a:avLst/>
          </a:prstGeom>
          <a:solidFill>
            <a:srgbClr val="2E3037"/>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1165475" y="549649"/>
            <a:ext cx="6858000" cy="3450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51" name="Google Shape;51;p8"/>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52" name="Google Shape;52;p8"/>
          <p:cNvCxnSpPr/>
          <p:nvPr/>
        </p:nvCxnSpPr>
        <p:spPr>
          <a:xfrm>
            <a:off x="945638" y="0"/>
            <a:ext cx="0" cy="5143500"/>
          </a:xfrm>
          <a:prstGeom prst="straightConnector1">
            <a:avLst/>
          </a:prstGeom>
          <a:noFill/>
          <a:ln w="9525" cap="flat" cmpd="sng">
            <a:solidFill>
              <a:schemeClr val="accent5"/>
            </a:solidFill>
            <a:prstDash val="solid"/>
            <a:round/>
            <a:headEnd type="none" w="med" len="med"/>
            <a:tailEnd type="none" w="med" len="med"/>
          </a:ln>
        </p:spPr>
      </p:cxnSp>
      <p:sp>
        <p:nvSpPr>
          <p:cNvPr id="53" name="Google Shape;53;p8"/>
          <p:cNvSpPr/>
          <p:nvPr/>
        </p:nvSpPr>
        <p:spPr>
          <a:xfrm>
            <a:off x="874396" y="605794"/>
            <a:ext cx="142500" cy="1425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0"/>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61" name="Google Shape;61;p10"/>
          <p:cNvCxnSpPr/>
          <p:nvPr/>
        </p:nvCxnSpPr>
        <p:spPr>
          <a:xfrm>
            <a:off x="945638" y="0"/>
            <a:ext cx="0" cy="5143500"/>
          </a:xfrm>
          <a:prstGeom prst="straightConnector1">
            <a:avLst/>
          </a:prstGeom>
          <a:noFill/>
          <a:ln w="9525" cap="flat" cmpd="sng">
            <a:solidFill>
              <a:srgbClr val="999FA9"/>
            </a:solidFill>
            <a:prstDash val="solid"/>
            <a:round/>
            <a:headEnd type="none" w="med" len="med"/>
            <a:tailEnd type="none" w="med" len="med"/>
          </a:ln>
        </p:spPr>
      </p:cxnSp>
      <p:sp>
        <p:nvSpPr>
          <p:cNvPr id="62" name="Google Shape;62;p10"/>
          <p:cNvSpPr/>
          <p:nvPr/>
        </p:nvSpPr>
        <p:spPr>
          <a:xfrm>
            <a:off x="844675" y="2470800"/>
            <a:ext cx="201900" cy="201900"/>
          </a:xfrm>
          <a:prstGeom prst="ellipse">
            <a:avLst/>
          </a:prstGeom>
          <a:solidFill>
            <a:srgbClr val="2E3037"/>
          </a:solidFill>
          <a:ln w="9525" cap="flat" cmpd="sng">
            <a:solidFill>
              <a:srgbClr val="999F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key color">
  <p:cSld name="BLANK_1">
    <p:bg>
      <p:bgPr>
        <a:solidFill>
          <a:schemeClr val="accent1"/>
        </a:solidFill>
        <a:effectLst/>
      </p:bgPr>
    </p:bg>
    <p:spTree>
      <p:nvGrpSpPr>
        <p:cNvPr id="1" name="Shape 63"/>
        <p:cNvGrpSpPr/>
        <p:nvPr/>
      </p:nvGrpSpPr>
      <p:grpSpPr>
        <a:xfrm>
          <a:off x="0" y="0"/>
          <a:ext cx="0" cy="0"/>
          <a:chOff x="0" y="0"/>
          <a:chExt cx="0" cy="0"/>
        </a:xfrm>
      </p:grpSpPr>
      <p:sp>
        <p:nvSpPr>
          <p:cNvPr id="64" name="Google Shape;64;p11"/>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cxnSp>
        <p:nvCxnSpPr>
          <p:cNvPr id="65" name="Google Shape;65;p11"/>
          <p:cNvCxnSpPr/>
          <p:nvPr/>
        </p:nvCxnSpPr>
        <p:spPr>
          <a:xfrm>
            <a:off x="945638" y="0"/>
            <a:ext cx="0" cy="5143500"/>
          </a:xfrm>
          <a:prstGeom prst="straightConnector1">
            <a:avLst/>
          </a:prstGeom>
          <a:noFill/>
          <a:ln w="9525" cap="flat" cmpd="sng">
            <a:solidFill>
              <a:schemeClr val="dk1"/>
            </a:solidFill>
            <a:prstDash val="solid"/>
            <a:round/>
            <a:headEnd type="none" w="med" len="med"/>
            <a:tailEnd type="none" w="med" len="med"/>
          </a:ln>
        </p:spPr>
      </p:cxnSp>
      <p:sp>
        <p:nvSpPr>
          <p:cNvPr id="66" name="Google Shape;66;p11"/>
          <p:cNvSpPr/>
          <p:nvPr/>
        </p:nvSpPr>
        <p:spPr>
          <a:xfrm>
            <a:off x="844675" y="2470800"/>
            <a:ext cx="201900" cy="2019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65475" y="549649"/>
            <a:ext cx="6858000" cy="3450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1pPr>
            <a:lvl2pPr lvl="1">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2pPr>
            <a:lvl3pPr lvl="2">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3pPr>
            <a:lvl4pPr lvl="3">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4pPr>
            <a:lvl5pPr lvl="4">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5pPr>
            <a:lvl6pPr lvl="5">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6pPr>
            <a:lvl7pPr lvl="6">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7pPr>
            <a:lvl8pPr lvl="7">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8pPr>
            <a:lvl9pPr lvl="8">
              <a:spcBef>
                <a:spcPts val="0"/>
              </a:spcBef>
              <a:spcAft>
                <a:spcPts val="0"/>
              </a:spcAft>
              <a:buClr>
                <a:schemeClr val="accent1"/>
              </a:buClr>
              <a:buSzPts val="1800"/>
              <a:buFont typeface="Quicksand"/>
              <a:buNone/>
              <a:defRPr sz="1800">
                <a:solidFill>
                  <a:schemeClr val="accent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1165498" y="1086799"/>
            <a:ext cx="6858000" cy="37257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Quicksand"/>
              <a:buChar char="◦"/>
              <a:defRPr sz="2400">
                <a:solidFill>
                  <a:schemeClr val="lt1"/>
                </a:solidFill>
                <a:latin typeface="Quicksand"/>
                <a:ea typeface="Quicksand"/>
                <a:cs typeface="Quicksand"/>
                <a:sym typeface="Quicksand"/>
              </a:defRPr>
            </a:lvl1pPr>
            <a:lvl2pPr marL="914400" lvl="1" indent="-381000">
              <a:spcBef>
                <a:spcPts val="0"/>
              </a:spcBef>
              <a:spcAft>
                <a:spcPts val="0"/>
              </a:spcAft>
              <a:buClr>
                <a:schemeClr val="accent1"/>
              </a:buClr>
              <a:buSzPts val="2400"/>
              <a:buFont typeface="Quicksand"/>
              <a:buChar char="▫"/>
              <a:defRPr sz="2400">
                <a:solidFill>
                  <a:schemeClr val="lt1"/>
                </a:solidFill>
                <a:latin typeface="Quicksand"/>
                <a:ea typeface="Quicksand"/>
                <a:cs typeface="Quicksand"/>
                <a:sym typeface="Quicksand"/>
              </a:defRPr>
            </a:lvl2pPr>
            <a:lvl3pPr marL="1371600" lvl="2" indent="-381000">
              <a:spcBef>
                <a:spcPts val="0"/>
              </a:spcBef>
              <a:spcAft>
                <a:spcPts val="0"/>
              </a:spcAft>
              <a:buClr>
                <a:schemeClr val="accent1"/>
              </a:buClr>
              <a:buSzPts val="2400"/>
              <a:buFont typeface="Quicksand"/>
              <a:buChar char="■"/>
              <a:defRPr sz="2400">
                <a:solidFill>
                  <a:schemeClr val="lt1"/>
                </a:solidFill>
                <a:latin typeface="Quicksand"/>
                <a:ea typeface="Quicksand"/>
                <a:cs typeface="Quicksand"/>
                <a:sym typeface="Quicksand"/>
              </a:defRPr>
            </a:lvl3pPr>
            <a:lvl4pPr marL="1828800" lvl="3" indent="-381000">
              <a:spcBef>
                <a:spcPts val="0"/>
              </a:spcBef>
              <a:spcAft>
                <a:spcPts val="0"/>
              </a:spcAft>
              <a:buClr>
                <a:schemeClr val="lt1"/>
              </a:buClr>
              <a:buSzPts val="2400"/>
              <a:buFont typeface="Quicksand"/>
              <a:buChar char="●"/>
              <a:defRPr sz="2400">
                <a:solidFill>
                  <a:schemeClr val="lt1"/>
                </a:solidFill>
                <a:latin typeface="Quicksand"/>
                <a:ea typeface="Quicksand"/>
                <a:cs typeface="Quicksand"/>
                <a:sym typeface="Quicksand"/>
              </a:defRPr>
            </a:lvl4pPr>
            <a:lvl5pPr marL="2286000" lvl="4" indent="-381000">
              <a:spcBef>
                <a:spcPts val="0"/>
              </a:spcBef>
              <a:spcAft>
                <a:spcPts val="0"/>
              </a:spcAft>
              <a:buClr>
                <a:schemeClr val="lt1"/>
              </a:buClr>
              <a:buSzPts val="2400"/>
              <a:buFont typeface="Quicksand"/>
              <a:buChar char="○"/>
              <a:defRPr sz="2400">
                <a:solidFill>
                  <a:schemeClr val="lt1"/>
                </a:solidFill>
                <a:latin typeface="Quicksand"/>
                <a:ea typeface="Quicksand"/>
                <a:cs typeface="Quicksand"/>
                <a:sym typeface="Quicksand"/>
              </a:defRPr>
            </a:lvl5pPr>
            <a:lvl6pPr marL="2743200" lvl="5" indent="-381000">
              <a:spcBef>
                <a:spcPts val="0"/>
              </a:spcBef>
              <a:spcAft>
                <a:spcPts val="0"/>
              </a:spcAft>
              <a:buClr>
                <a:schemeClr val="lt1"/>
              </a:buClr>
              <a:buSzPts val="2400"/>
              <a:buFont typeface="Quicksand"/>
              <a:buChar char="■"/>
              <a:defRPr sz="2400">
                <a:solidFill>
                  <a:schemeClr val="lt1"/>
                </a:solidFill>
                <a:latin typeface="Quicksand"/>
                <a:ea typeface="Quicksand"/>
                <a:cs typeface="Quicksand"/>
                <a:sym typeface="Quicksand"/>
              </a:defRPr>
            </a:lvl6pPr>
            <a:lvl7pPr marL="3200400" lvl="6" indent="-381000">
              <a:spcBef>
                <a:spcPts val="0"/>
              </a:spcBef>
              <a:spcAft>
                <a:spcPts val="0"/>
              </a:spcAft>
              <a:buClr>
                <a:schemeClr val="lt1"/>
              </a:buClr>
              <a:buSzPts val="2400"/>
              <a:buFont typeface="Quicksand"/>
              <a:buChar char="●"/>
              <a:defRPr sz="2400">
                <a:solidFill>
                  <a:schemeClr val="lt1"/>
                </a:solidFill>
                <a:latin typeface="Quicksand"/>
                <a:ea typeface="Quicksand"/>
                <a:cs typeface="Quicksand"/>
                <a:sym typeface="Quicksand"/>
              </a:defRPr>
            </a:lvl7pPr>
            <a:lvl8pPr marL="3657600" lvl="7" indent="-381000">
              <a:spcBef>
                <a:spcPts val="0"/>
              </a:spcBef>
              <a:spcAft>
                <a:spcPts val="0"/>
              </a:spcAft>
              <a:buClr>
                <a:schemeClr val="lt1"/>
              </a:buClr>
              <a:buSzPts val="2400"/>
              <a:buFont typeface="Quicksand"/>
              <a:buChar char="○"/>
              <a:defRPr sz="2400">
                <a:solidFill>
                  <a:schemeClr val="lt1"/>
                </a:solidFill>
                <a:latin typeface="Quicksand"/>
                <a:ea typeface="Quicksand"/>
                <a:cs typeface="Quicksand"/>
                <a:sym typeface="Quicksand"/>
              </a:defRPr>
            </a:lvl8pPr>
            <a:lvl9pPr marL="4114800" lvl="8" indent="-381000">
              <a:spcBef>
                <a:spcPts val="0"/>
              </a:spcBef>
              <a:spcAft>
                <a:spcPts val="0"/>
              </a:spcAft>
              <a:buClr>
                <a:schemeClr val="lt1"/>
              </a:buClr>
              <a:buSzPts val="2400"/>
              <a:buFont typeface="Quicksand"/>
              <a:buChar char="■"/>
              <a:defRPr sz="2400">
                <a:solidFill>
                  <a:schemeClr val="lt1"/>
                </a:solidFill>
                <a:latin typeface="Quicksand"/>
                <a:ea typeface="Quicksand"/>
                <a:cs typeface="Quicksand"/>
                <a:sym typeface="Quicksand"/>
              </a:defRPr>
            </a:lvl9pPr>
          </a:lstStyle>
          <a:p>
            <a:endParaRPr/>
          </a:p>
        </p:txBody>
      </p:sp>
      <p:sp>
        <p:nvSpPr>
          <p:cNvPr id="8" name="Google Shape;8;p1"/>
          <p:cNvSpPr txBox="1">
            <a:spLocks noGrp="1"/>
          </p:cNvSpPr>
          <p:nvPr>
            <p:ph type="sldNum" idx="12"/>
          </p:nvPr>
        </p:nvSpPr>
        <p:spPr>
          <a:xfrm>
            <a:off x="8523157" y="4752131"/>
            <a:ext cx="548700" cy="315300"/>
          </a:xfrm>
          <a:prstGeom prst="rect">
            <a:avLst/>
          </a:prstGeom>
          <a:noFill/>
          <a:ln>
            <a:noFill/>
          </a:ln>
        </p:spPr>
        <p:txBody>
          <a:bodyPr spcFirstLastPara="1" wrap="square" lIns="91425" tIns="91425" rIns="91425" bIns="91425" anchor="t" anchorCtr="0">
            <a:noAutofit/>
          </a:bodyPr>
          <a:lstStyle>
            <a:lvl1pPr lvl="0" algn="r">
              <a:buNone/>
              <a:defRPr sz="1200">
                <a:solidFill>
                  <a:schemeClr val="accent1"/>
                </a:solidFill>
                <a:latin typeface="Quicksand"/>
                <a:ea typeface="Quicksand"/>
                <a:cs typeface="Quicksand"/>
                <a:sym typeface="Quicksand"/>
              </a:defRPr>
            </a:lvl1pPr>
            <a:lvl2pPr lvl="1" algn="r">
              <a:buNone/>
              <a:defRPr sz="1200">
                <a:solidFill>
                  <a:schemeClr val="accent1"/>
                </a:solidFill>
                <a:latin typeface="Quicksand"/>
                <a:ea typeface="Quicksand"/>
                <a:cs typeface="Quicksand"/>
                <a:sym typeface="Quicksand"/>
              </a:defRPr>
            </a:lvl2pPr>
            <a:lvl3pPr lvl="2" algn="r">
              <a:buNone/>
              <a:defRPr sz="1200">
                <a:solidFill>
                  <a:schemeClr val="accent1"/>
                </a:solidFill>
                <a:latin typeface="Quicksand"/>
                <a:ea typeface="Quicksand"/>
                <a:cs typeface="Quicksand"/>
                <a:sym typeface="Quicksand"/>
              </a:defRPr>
            </a:lvl3pPr>
            <a:lvl4pPr lvl="3" algn="r">
              <a:buNone/>
              <a:defRPr sz="1200">
                <a:solidFill>
                  <a:schemeClr val="accent1"/>
                </a:solidFill>
                <a:latin typeface="Quicksand"/>
                <a:ea typeface="Quicksand"/>
                <a:cs typeface="Quicksand"/>
                <a:sym typeface="Quicksand"/>
              </a:defRPr>
            </a:lvl4pPr>
            <a:lvl5pPr lvl="4" algn="r">
              <a:buNone/>
              <a:defRPr sz="1200">
                <a:solidFill>
                  <a:schemeClr val="accent1"/>
                </a:solidFill>
                <a:latin typeface="Quicksand"/>
                <a:ea typeface="Quicksand"/>
                <a:cs typeface="Quicksand"/>
                <a:sym typeface="Quicksand"/>
              </a:defRPr>
            </a:lvl5pPr>
            <a:lvl6pPr lvl="5" algn="r">
              <a:buNone/>
              <a:defRPr sz="1200">
                <a:solidFill>
                  <a:schemeClr val="accent1"/>
                </a:solidFill>
                <a:latin typeface="Quicksand"/>
                <a:ea typeface="Quicksand"/>
                <a:cs typeface="Quicksand"/>
                <a:sym typeface="Quicksand"/>
              </a:defRPr>
            </a:lvl6pPr>
            <a:lvl7pPr lvl="6" algn="r">
              <a:buNone/>
              <a:defRPr sz="1200">
                <a:solidFill>
                  <a:schemeClr val="accent1"/>
                </a:solidFill>
                <a:latin typeface="Quicksand"/>
                <a:ea typeface="Quicksand"/>
                <a:cs typeface="Quicksand"/>
                <a:sym typeface="Quicksand"/>
              </a:defRPr>
            </a:lvl7pPr>
            <a:lvl8pPr lvl="7" algn="r">
              <a:buNone/>
              <a:defRPr sz="1200">
                <a:solidFill>
                  <a:schemeClr val="accent1"/>
                </a:solidFill>
                <a:latin typeface="Quicksand"/>
                <a:ea typeface="Quicksand"/>
                <a:cs typeface="Quicksand"/>
                <a:sym typeface="Quicksand"/>
              </a:defRPr>
            </a:lvl8pPr>
            <a:lvl9pPr lvl="8" algn="r">
              <a:buNone/>
              <a:defRPr sz="1200">
                <a:solidFill>
                  <a:schemeClr val="accent1"/>
                </a:solidFill>
                <a:latin typeface="Quicksand"/>
                <a:ea typeface="Quicksand"/>
                <a:cs typeface="Quicksand"/>
                <a:sym typeface="Quicksand"/>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2"/>
          <p:cNvSpPr txBox="1">
            <a:spLocks noGrp="1"/>
          </p:cNvSpPr>
          <p:nvPr>
            <p:ph type="ctrTitle"/>
          </p:nvPr>
        </p:nvSpPr>
        <p:spPr>
          <a:xfrm>
            <a:off x="1319174" y="1079405"/>
            <a:ext cx="7419189" cy="2313914"/>
          </a:xfrm>
          <a:prstGeom prst="rect">
            <a:avLst/>
          </a:prstGeom>
        </p:spPr>
        <p:txBody>
          <a:bodyPr spcFirstLastPara="1" wrap="square" lIns="91425" tIns="91425" rIns="91425" bIns="91425" anchor="t" anchorCtr="0">
            <a:noAutofit/>
          </a:bodyPr>
          <a:lstStyle/>
          <a:p>
            <a:pPr lvl="0"/>
            <a:r>
              <a:rPr lang="en-US" altLang="zh-CN" sz="2800" b="1" spc="-10" dirty="0">
                <a:solidFill>
                  <a:schemeClr val="bg2">
                    <a:lumMod val="20000"/>
                    <a:lumOff val="80000"/>
                  </a:schemeClr>
                </a:solidFill>
                <a:latin typeface="Times New Roman" pitchFamily="18" charset="0"/>
                <a:cs typeface="Times New Roman" pitchFamily="18" charset="0"/>
              </a:rPr>
              <a:t>Data Mining</a:t>
            </a:r>
            <a:r>
              <a:rPr lang="en-US" altLang="zh-CN" sz="2800" b="1" spc="-10" dirty="0">
                <a:solidFill>
                  <a:schemeClr val="bg2">
                    <a:lumMod val="20000"/>
                    <a:lumOff val="80000"/>
                  </a:schemeClr>
                </a:solidFill>
                <a:latin typeface="Times New Roman" pitchFamily="18" charset="0"/>
                <a:ea typeface="宋体" charset="0"/>
                <a:cs typeface="Times New Roman" pitchFamily="18" charset="0"/>
              </a:rPr>
              <a:t> Cornerstone  Project(Review:3)</a:t>
            </a:r>
            <a:br>
              <a:rPr lang="zh-CN" altLang="en-US" sz="2800" b="1" spc="-10" dirty="0">
                <a:solidFill>
                  <a:schemeClr val="bg2">
                    <a:lumMod val="20000"/>
                    <a:lumOff val="80000"/>
                  </a:schemeClr>
                </a:solidFill>
                <a:latin typeface="Times New Roman" pitchFamily="18" charset="0"/>
                <a:ea typeface="宋体" charset="0"/>
                <a:cs typeface="Times New Roman" pitchFamily="18" charset="0"/>
              </a:rPr>
            </a:br>
            <a:r>
              <a:rPr lang="en-US" altLang="zh-CN" sz="2800" b="1" spc="-10" dirty="0">
                <a:solidFill>
                  <a:schemeClr val="bg2">
                    <a:lumMod val="20000"/>
                    <a:lumOff val="80000"/>
                  </a:schemeClr>
                </a:solidFill>
                <a:latin typeface="Atala"/>
                <a:ea typeface="宋体" charset="0"/>
                <a:cs typeface="Times New Roman" pitchFamily="18" charset="0"/>
              </a:rPr>
              <a:t> </a:t>
            </a:r>
            <a:br>
              <a:rPr lang="en-US" altLang="zh-CN" sz="2800" b="1" spc="-10" dirty="0">
                <a:solidFill>
                  <a:schemeClr val="bg2">
                    <a:lumMod val="20000"/>
                    <a:lumOff val="80000"/>
                  </a:schemeClr>
                </a:solidFill>
                <a:latin typeface="Atala"/>
                <a:ea typeface="宋体" charset="0"/>
                <a:cs typeface="Times New Roman" pitchFamily="18" charset="0"/>
              </a:rPr>
            </a:br>
            <a:r>
              <a:rPr lang="en-US" altLang="zh-CN" sz="4000" b="1" i="1" spc="-10" dirty="0">
                <a:solidFill>
                  <a:schemeClr val="accent2">
                    <a:lumMod val="50000"/>
                  </a:schemeClr>
                </a:solidFill>
                <a:latin typeface="Atala"/>
                <a:ea typeface="Cascadia Mono" panose="020B0609020000020004" pitchFamily="49" charset="0"/>
                <a:cs typeface="Cascadia Mono" panose="020B0609020000020004" pitchFamily="49" charset="0"/>
              </a:rPr>
              <a:t>ATTENDANCE ANALYSIS SYSTEM</a:t>
            </a:r>
            <a:br>
              <a:rPr lang="en-US" altLang="zh-CN" sz="4000" b="1" i="1" spc="-10" dirty="0">
                <a:solidFill>
                  <a:schemeClr val="accent2">
                    <a:lumMod val="50000"/>
                  </a:schemeClr>
                </a:solidFill>
                <a:latin typeface="Atala"/>
                <a:ea typeface="Cascadia Mono" panose="020B0609020000020004" pitchFamily="49" charset="0"/>
                <a:cs typeface="Cascadia Mono" panose="020B0609020000020004" pitchFamily="49" charset="0"/>
              </a:rPr>
            </a:br>
            <a:endParaRPr sz="4000" dirty="0"/>
          </a:p>
        </p:txBody>
      </p:sp>
      <p:sp>
        <p:nvSpPr>
          <p:cNvPr id="3" name="Google Shape;192;p35">
            <a:extLst>
              <a:ext uri="{FF2B5EF4-FFF2-40B4-BE49-F238E27FC236}">
                <a16:creationId xmlns:a16="http://schemas.microsoft.com/office/drawing/2014/main" id="{E3EFB76C-66A4-7746-0592-EE121EACDF8E}"/>
              </a:ext>
            </a:extLst>
          </p:cNvPr>
          <p:cNvSpPr txBox="1">
            <a:spLocks/>
          </p:cNvSpPr>
          <p:nvPr/>
        </p:nvSpPr>
        <p:spPr>
          <a:xfrm>
            <a:off x="1143466" y="3265714"/>
            <a:ext cx="4528800" cy="4265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CN" b="1" dirty="0">
                <a:solidFill>
                  <a:schemeClr val="tx1">
                    <a:lumMod val="10000"/>
                    <a:lumOff val="90000"/>
                  </a:schemeClr>
                </a:solidFill>
                <a:latin typeface="Times New Roman" pitchFamily="18" charset="0"/>
                <a:ea typeface="宋体" charset="0"/>
                <a:cs typeface="Times New Roman" pitchFamily="18" charset="0"/>
              </a:rPr>
              <a:t>DEPARTMENT OF DATA SCIENCE</a:t>
            </a:r>
            <a:endParaRPr lang="en-US" dirty="0">
              <a:solidFill>
                <a:schemeClr val="tx1">
                  <a:lumMod val="10000"/>
                  <a:lumOff val="90000"/>
                </a:schemeClr>
              </a:solidFill>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2"/>
          <p:cNvSpPr txBox="1">
            <a:spLocks noGrp="1"/>
          </p:cNvSpPr>
          <p:nvPr>
            <p:ph type="body" idx="4294967295"/>
          </p:nvPr>
        </p:nvSpPr>
        <p:spPr>
          <a:xfrm>
            <a:off x="1305649" y="550016"/>
            <a:ext cx="3445105" cy="3872577"/>
          </a:xfrm>
          <a:prstGeom prst="rect">
            <a:avLst/>
          </a:prstGeom>
        </p:spPr>
        <p:txBody>
          <a:bodyPr spcFirstLastPara="1" wrap="square" lIns="91425" tIns="91425" rIns="91425" bIns="91425" anchor="t" anchorCtr="0">
            <a:noAutofit/>
          </a:bodyPr>
          <a:lstStyle/>
          <a:p>
            <a:pPr marL="0" indent="0">
              <a:buNone/>
            </a:pPr>
            <a:r>
              <a:rPr lang="en-US" sz="1500" b="1" dirty="0"/>
              <a:t>V. Yamini Sri – Team Leader</a:t>
            </a:r>
            <a:br>
              <a:rPr lang="en-US" sz="1500" dirty="0"/>
            </a:br>
            <a:r>
              <a:rPr lang="en-US" sz="1500" dirty="0"/>
              <a:t> Project planning &amp; coordination</a:t>
            </a:r>
            <a:br>
              <a:rPr lang="en-US" sz="1500" dirty="0"/>
            </a:br>
            <a:r>
              <a:rPr lang="en-US" sz="1500" dirty="0"/>
              <a:t>Dataset understanding and integration</a:t>
            </a:r>
          </a:p>
          <a:p>
            <a:pPr marL="0" indent="0">
              <a:buNone/>
            </a:pPr>
            <a:r>
              <a:rPr lang="en-IN" sz="1500" b="1" dirty="0"/>
              <a:t>T. Kalpana – Data Preprocessing</a:t>
            </a:r>
            <a:br>
              <a:rPr lang="en-IN" sz="1500" dirty="0"/>
            </a:br>
            <a:r>
              <a:rPr lang="en-IN" sz="1500" dirty="0"/>
              <a:t>Data cleaning</a:t>
            </a:r>
            <a:br>
              <a:rPr lang="en-IN" sz="1500" dirty="0"/>
            </a:br>
            <a:r>
              <a:rPr lang="en-IN" sz="1500" dirty="0"/>
              <a:t> Handling missing values</a:t>
            </a:r>
          </a:p>
          <a:p>
            <a:pPr marL="0" lvl="0" indent="0">
              <a:buNone/>
            </a:pPr>
            <a:r>
              <a:rPr lang="en-IN" sz="1500" b="1" dirty="0"/>
              <a:t>Y. </a:t>
            </a:r>
            <a:r>
              <a:rPr lang="en-IN" sz="1500" b="1" dirty="0" err="1"/>
              <a:t>Yasaswini</a:t>
            </a:r>
            <a:r>
              <a:rPr lang="en-IN" sz="1500" b="1" dirty="0"/>
              <a:t>  – Data Analysis</a:t>
            </a:r>
            <a:br>
              <a:rPr lang="en-IN" sz="1500" dirty="0"/>
            </a:br>
            <a:r>
              <a:rPr lang="en-IN" sz="1500" dirty="0"/>
              <a:t> Attendance and performance     analysis</a:t>
            </a:r>
            <a:br>
              <a:rPr lang="en-IN" sz="1500" dirty="0"/>
            </a:br>
            <a:r>
              <a:rPr lang="en-IN" sz="1500" dirty="0"/>
              <a:t> Result observation</a:t>
            </a:r>
          </a:p>
          <a:p>
            <a:pPr marL="0" indent="0">
              <a:buNone/>
            </a:pPr>
            <a:r>
              <a:rPr lang="en-IN" sz="1500" dirty="0"/>
              <a:t> </a:t>
            </a:r>
            <a:r>
              <a:rPr lang="en-IN" sz="1500" b="1" dirty="0"/>
              <a:t>K. Sushma – Documentation &amp; Presentation</a:t>
            </a:r>
            <a:br>
              <a:rPr lang="en-IN" sz="1500" dirty="0"/>
            </a:br>
            <a:r>
              <a:rPr lang="en-IN" sz="1500" dirty="0"/>
              <a:t> PPT preparation</a:t>
            </a:r>
            <a:br>
              <a:rPr lang="en-IN" sz="1500" dirty="0"/>
            </a:br>
            <a:r>
              <a:rPr lang="en-IN" sz="1500" dirty="0"/>
              <a:t> Final report and presentation</a:t>
            </a:r>
          </a:p>
          <a:p>
            <a:pPr marL="0" lvl="0" indent="0">
              <a:buNone/>
            </a:pPr>
            <a:endParaRPr sz="1500" dirty="0"/>
          </a:p>
        </p:txBody>
      </p:sp>
      <p:grpSp>
        <p:nvGrpSpPr>
          <p:cNvPr id="313" name="Google Shape;313;p32"/>
          <p:cNvGrpSpPr/>
          <p:nvPr/>
        </p:nvGrpSpPr>
        <p:grpSpPr>
          <a:xfrm>
            <a:off x="5011702" y="465959"/>
            <a:ext cx="2736410" cy="4222433"/>
            <a:chOff x="5011702" y="465959"/>
            <a:chExt cx="2736410" cy="4222433"/>
          </a:xfrm>
        </p:grpSpPr>
        <p:sp>
          <p:nvSpPr>
            <p:cNvPr id="314" name="Google Shape;314;p32"/>
            <p:cNvSpPr/>
            <p:nvPr/>
          </p:nvSpPr>
          <p:spPr>
            <a:xfrm>
              <a:off x="5011702" y="465959"/>
              <a:ext cx="2736410" cy="4222433"/>
            </a:xfrm>
            <a:custGeom>
              <a:avLst/>
              <a:gdLst/>
              <a:ahLst/>
              <a:cxnLst/>
              <a:rect l="l" t="t" r="r" b="b"/>
              <a:pathLst>
                <a:path w="135802" h="209550" extrusionOk="0">
                  <a:moveTo>
                    <a:pt x="132205" y="18886"/>
                  </a:moveTo>
                  <a:lnTo>
                    <a:pt x="132205" y="190364"/>
                  </a:lnTo>
                  <a:lnTo>
                    <a:pt x="3597" y="190364"/>
                  </a:lnTo>
                  <a:lnTo>
                    <a:pt x="3597" y="18886"/>
                  </a:lnTo>
                  <a:close/>
                  <a:moveTo>
                    <a:pt x="8019" y="0"/>
                  </a:moveTo>
                  <a:lnTo>
                    <a:pt x="7270" y="75"/>
                  </a:lnTo>
                  <a:lnTo>
                    <a:pt x="6445" y="150"/>
                  </a:lnTo>
                  <a:lnTo>
                    <a:pt x="5696" y="375"/>
                  </a:lnTo>
                  <a:lnTo>
                    <a:pt x="4946" y="600"/>
                  </a:lnTo>
                  <a:lnTo>
                    <a:pt x="4197" y="974"/>
                  </a:lnTo>
                  <a:lnTo>
                    <a:pt x="3522" y="1349"/>
                  </a:lnTo>
                  <a:lnTo>
                    <a:pt x="2923" y="1874"/>
                  </a:lnTo>
                  <a:lnTo>
                    <a:pt x="2323" y="2323"/>
                  </a:lnTo>
                  <a:lnTo>
                    <a:pt x="1874" y="2923"/>
                  </a:lnTo>
                  <a:lnTo>
                    <a:pt x="1349" y="3522"/>
                  </a:lnTo>
                  <a:lnTo>
                    <a:pt x="974" y="4197"/>
                  </a:lnTo>
                  <a:lnTo>
                    <a:pt x="600" y="4946"/>
                  </a:lnTo>
                  <a:lnTo>
                    <a:pt x="375" y="5696"/>
                  </a:lnTo>
                  <a:lnTo>
                    <a:pt x="150" y="6445"/>
                  </a:lnTo>
                  <a:lnTo>
                    <a:pt x="75" y="7270"/>
                  </a:lnTo>
                  <a:lnTo>
                    <a:pt x="0" y="8019"/>
                  </a:lnTo>
                  <a:lnTo>
                    <a:pt x="0" y="201531"/>
                  </a:lnTo>
                  <a:lnTo>
                    <a:pt x="75" y="202280"/>
                  </a:lnTo>
                  <a:lnTo>
                    <a:pt x="150" y="203105"/>
                  </a:lnTo>
                  <a:lnTo>
                    <a:pt x="375" y="203854"/>
                  </a:lnTo>
                  <a:lnTo>
                    <a:pt x="600" y="204604"/>
                  </a:lnTo>
                  <a:lnTo>
                    <a:pt x="974" y="205353"/>
                  </a:lnTo>
                  <a:lnTo>
                    <a:pt x="1349" y="206028"/>
                  </a:lnTo>
                  <a:lnTo>
                    <a:pt x="1874" y="206627"/>
                  </a:lnTo>
                  <a:lnTo>
                    <a:pt x="2323" y="207227"/>
                  </a:lnTo>
                  <a:lnTo>
                    <a:pt x="2923" y="207676"/>
                  </a:lnTo>
                  <a:lnTo>
                    <a:pt x="3522" y="208201"/>
                  </a:lnTo>
                  <a:lnTo>
                    <a:pt x="4197" y="208576"/>
                  </a:lnTo>
                  <a:lnTo>
                    <a:pt x="4946" y="208950"/>
                  </a:lnTo>
                  <a:lnTo>
                    <a:pt x="5696" y="209175"/>
                  </a:lnTo>
                  <a:lnTo>
                    <a:pt x="6445" y="209400"/>
                  </a:lnTo>
                  <a:lnTo>
                    <a:pt x="7270" y="209475"/>
                  </a:lnTo>
                  <a:lnTo>
                    <a:pt x="8019" y="209550"/>
                  </a:lnTo>
                  <a:lnTo>
                    <a:pt x="127783" y="209550"/>
                  </a:lnTo>
                  <a:lnTo>
                    <a:pt x="128532" y="209475"/>
                  </a:lnTo>
                  <a:lnTo>
                    <a:pt x="129357" y="209400"/>
                  </a:lnTo>
                  <a:lnTo>
                    <a:pt x="130106" y="209175"/>
                  </a:lnTo>
                  <a:lnTo>
                    <a:pt x="130856" y="208950"/>
                  </a:lnTo>
                  <a:lnTo>
                    <a:pt x="131605" y="208576"/>
                  </a:lnTo>
                  <a:lnTo>
                    <a:pt x="132280" y="208201"/>
                  </a:lnTo>
                  <a:lnTo>
                    <a:pt x="132879" y="207676"/>
                  </a:lnTo>
                  <a:lnTo>
                    <a:pt x="133479" y="207227"/>
                  </a:lnTo>
                  <a:lnTo>
                    <a:pt x="133928" y="206627"/>
                  </a:lnTo>
                  <a:lnTo>
                    <a:pt x="134453" y="206028"/>
                  </a:lnTo>
                  <a:lnTo>
                    <a:pt x="134828" y="205353"/>
                  </a:lnTo>
                  <a:lnTo>
                    <a:pt x="135202" y="204604"/>
                  </a:lnTo>
                  <a:lnTo>
                    <a:pt x="135427" y="203854"/>
                  </a:lnTo>
                  <a:lnTo>
                    <a:pt x="135652" y="203105"/>
                  </a:lnTo>
                  <a:lnTo>
                    <a:pt x="135727" y="202280"/>
                  </a:lnTo>
                  <a:lnTo>
                    <a:pt x="135802" y="201531"/>
                  </a:lnTo>
                  <a:lnTo>
                    <a:pt x="135802" y="8019"/>
                  </a:lnTo>
                  <a:lnTo>
                    <a:pt x="135727" y="7270"/>
                  </a:lnTo>
                  <a:lnTo>
                    <a:pt x="135652" y="6445"/>
                  </a:lnTo>
                  <a:lnTo>
                    <a:pt x="135427" y="5696"/>
                  </a:lnTo>
                  <a:lnTo>
                    <a:pt x="135202" y="4946"/>
                  </a:lnTo>
                  <a:lnTo>
                    <a:pt x="134828" y="4197"/>
                  </a:lnTo>
                  <a:lnTo>
                    <a:pt x="134453" y="3522"/>
                  </a:lnTo>
                  <a:lnTo>
                    <a:pt x="133928" y="2923"/>
                  </a:lnTo>
                  <a:lnTo>
                    <a:pt x="133479" y="2323"/>
                  </a:lnTo>
                  <a:lnTo>
                    <a:pt x="132879" y="1874"/>
                  </a:lnTo>
                  <a:lnTo>
                    <a:pt x="132280" y="1349"/>
                  </a:lnTo>
                  <a:lnTo>
                    <a:pt x="131605" y="974"/>
                  </a:lnTo>
                  <a:lnTo>
                    <a:pt x="130856" y="600"/>
                  </a:lnTo>
                  <a:lnTo>
                    <a:pt x="130106" y="375"/>
                  </a:lnTo>
                  <a:lnTo>
                    <a:pt x="129357" y="150"/>
                  </a:lnTo>
                  <a:lnTo>
                    <a:pt x="128532" y="75"/>
                  </a:lnTo>
                  <a:lnTo>
                    <a:pt x="1277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p:cNvSpPr/>
            <p:nvPr/>
          </p:nvSpPr>
          <p:spPr>
            <a:xfrm>
              <a:off x="6268155" y="4422593"/>
              <a:ext cx="225015" cy="144999"/>
            </a:xfrm>
            <a:custGeom>
              <a:avLst/>
              <a:gdLst/>
              <a:ahLst/>
              <a:cxnLst/>
              <a:rect l="l" t="t" r="r" b="b"/>
              <a:pathLst>
                <a:path w="11167" h="7196" extrusionOk="0">
                  <a:moveTo>
                    <a:pt x="3597" y="0"/>
                  </a:moveTo>
                  <a:lnTo>
                    <a:pt x="2848" y="75"/>
                  </a:lnTo>
                  <a:lnTo>
                    <a:pt x="2173" y="300"/>
                  </a:lnTo>
                  <a:lnTo>
                    <a:pt x="1574" y="600"/>
                  </a:lnTo>
                  <a:lnTo>
                    <a:pt x="1049" y="1050"/>
                  </a:lnTo>
                  <a:lnTo>
                    <a:pt x="600" y="1574"/>
                  </a:lnTo>
                  <a:lnTo>
                    <a:pt x="300" y="2174"/>
                  </a:lnTo>
                  <a:lnTo>
                    <a:pt x="75" y="2848"/>
                  </a:lnTo>
                  <a:lnTo>
                    <a:pt x="0" y="3598"/>
                  </a:lnTo>
                  <a:lnTo>
                    <a:pt x="75" y="4347"/>
                  </a:lnTo>
                  <a:lnTo>
                    <a:pt x="300" y="5022"/>
                  </a:lnTo>
                  <a:lnTo>
                    <a:pt x="600" y="5621"/>
                  </a:lnTo>
                  <a:lnTo>
                    <a:pt x="1049" y="6146"/>
                  </a:lnTo>
                  <a:lnTo>
                    <a:pt x="1574" y="6596"/>
                  </a:lnTo>
                  <a:lnTo>
                    <a:pt x="2173" y="6896"/>
                  </a:lnTo>
                  <a:lnTo>
                    <a:pt x="2848" y="7120"/>
                  </a:lnTo>
                  <a:lnTo>
                    <a:pt x="3597" y="7195"/>
                  </a:lnTo>
                  <a:lnTo>
                    <a:pt x="7644" y="7195"/>
                  </a:lnTo>
                  <a:lnTo>
                    <a:pt x="8319" y="7120"/>
                  </a:lnTo>
                  <a:lnTo>
                    <a:pt x="8994" y="6896"/>
                  </a:lnTo>
                  <a:lnTo>
                    <a:pt x="9593" y="6596"/>
                  </a:lnTo>
                  <a:lnTo>
                    <a:pt x="10118" y="6146"/>
                  </a:lnTo>
                  <a:lnTo>
                    <a:pt x="10567" y="5621"/>
                  </a:lnTo>
                  <a:lnTo>
                    <a:pt x="10867" y="5022"/>
                  </a:lnTo>
                  <a:lnTo>
                    <a:pt x="11092" y="4347"/>
                  </a:lnTo>
                  <a:lnTo>
                    <a:pt x="11167" y="3598"/>
                  </a:lnTo>
                  <a:lnTo>
                    <a:pt x="11092" y="2848"/>
                  </a:lnTo>
                  <a:lnTo>
                    <a:pt x="10867" y="2174"/>
                  </a:lnTo>
                  <a:lnTo>
                    <a:pt x="10567" y="1574"/>
                  </a:lnTo>
                  <a:lnTo>
                    <a:pt x="10118" y="1050"/>
                  </a:lnTo>
                  <a:lnTo>
                    <a:pt x="9593" y="600"/>
                  </a:lnTo>
                  <a:lnTo>
                    <a:pt x="8994" y="300"/>
                  </a:lnTo>
                  <a:lnTo>
                    <a:pt x="8319" y="75"/>
                  </a:lnTo>
                  <a:lnTo>
                    <a:pt x="764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p:cNvSpPr/>
            <p:nvPr/>
          </p:nvSpPr>
          <p:spPr>
            <a:xfrm>
              <a:off x="6251531" y="633587"/>
              <a:ext cx="43826" cy="43806"/>
            </a:xfrm>
            <a:custGeom>
              <a:avLst/>
              <a:gdLst/>
              <a:ahLst/>
              <a:cxnLst/>
              <a:rect l="l" t="t" r="r" b="b"/>
              <a:pathLst>
                <a:path w="2175" h="2174" extrusionOk="0">
                  <a:moveTo>
                    <a:pt x="1125" y="0"/>
                  </a:moveTo>
                  <a:lnTo>
                    <a:pt x="825" y="75"/>
                  </a:lnTo>
                  <a:lnTo>
                    <a:pt x="675" y="75"/>
                  </a:lnTo>
                  <a:lnTo>
                    <a:pt x="450" y="225"/>
                  </a:lnTo>
                  <a:lnTo>
                    <a:pt x="300" y="300"/>
                  </a:lnTo>
                  <a:lnTo>
                    <a:pt x="225" y="525"/>
                  </a:lnTo>
                  <a:lnTo>
                    <a:pt x="76" y="675"/>
                  </a:lnTo>
                  <a:lnTo>
                    <a:pt x="1" y="824"/>
                  </a:lnTo>
                  <a:lnTo>
                    <a:pt x="1" y="1124"/>
                  </a:lnTo>
                  <a:lnTo>
                    <a:pt x="1" y="1349"/>
                  </a:lnTo>
                  <a:lnTo>
                    <a:pt x="76" y="1499"/>
                  </a:lnTo>
                  <a:lnTo>
                    <a:pt x="225" y="1649"/>
                  </a:lnTo>
                  <a:lnTo>
                    <a:pt x="300" y="1874"/>
                  </a:lnTo>
                  <a:lnTo>
                    <a:pt x="450" y="2024"/>
                  </a:lnTo>
                  <a:lnTo>
                    <a:pt x="675" y="2099"/>
                  </a:lnTo>
                  <a:lnTo>
                    <a:pt x="825" y="2173"/>
                  </a:lnTo>
                  <a:lnTo>
                    <a:pt x="1275" y="2173"/>
                  </a:lnTo>
                  <a:lnTo>
                    <a:pt x="1500" y="2099"/>
                  </a:lnTo>
                  <a:lnTo>
                    <a:pt x="1649" y="2024"/>
                  </a:lnTo>
                  <a:lnTo>
                    <a:pt x="1799" y="1874"/>
                  </a:lnTo>
                  <a:lnTo>
                    <a:pt x="1949" y="1649"/>
                  </a:lnTo>
                  <a:lnTo>
                    <a:pt x="2099" y="1499"/>
                  </a:lnTo>
                  <a:lnTo>
                    <a:pt x="2099" y="1349"/>
                  </a:lnTo>
                  <a:lnTo>
                    <a:pt x="2174" y="1124"/>
                  </a:lnTo>
                  <a:lnTo>
                    <a:pt x="2099" y="824"/>
                  </a:lnTo>
                  <a:lnTo>
                    <a:pt x="2099" y="675"/>
                  </a:lnTo>
                  <a:lnTo>
                    <a:pt x="1949" y="525"/>
                  </a:lnTo>
                  <a:lnTo>
                    <a:pt x="1799" y="300"/>
                  </a:lnTo>
                  <a:lnTo>
                    <a:pt x="1649" y="225"/>
                  </a:lnTo>
                  <a:lnTo>
                    <a:pt x="1500" y="75"/>
                  </a:lnTo>
                  <a:lnTo>
                    <a:pt x="1275" y="75"/>
                  </a:lnTo>
                  <a:lnTo>
                    <a:pt x="112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p:cNvSpPr/>
            <p:nvPr/>
          </p:nvSpPr>
          <p:spPr>
            <a:xfrm>
              <a:off x="6340634" y="615452"/>
              <a:ext cx="80056" cy="80056"/>
            </a:xfrm>
            <a:custGeom>
              <a:avLst/>
              <a:gdLst/>
              <a:ahLst/>
              <a:cxnLst/>
              <a:rect l="l" t="t" r="r" b="b"/>
              <a:pathLst>
                <a:path w="3973" h="3973" extrusionOk="0">
                  <a:moveTo>
                    <a:pt x="2024" y="1"/>
                  </a:moveTo>
                  <a:lnTo>
                    <a:pt x="1574" y="76"/>
                  </a:lnTo>
                  <a:lnTo>
                    <a:pt x="1200" y="151"/>
                  </a:lnTo>
                  <a:lnTo>
                    <a:pt x="900" y="375"/>
                  </a:lnTo>
                  <a:lnTo>
                    <a:pt x="600" y="600"/>
                  </a:lnTo>
                  <a:lnTo>
                    <a:pt x="375" y="900"/>
                  </a:lnTo>
                  <a:lnTo>
                    <a:pt x="150" y="1200"/>
                  </a:lnTo>
                  <a:lnTo>
                    <a:pt x="75" y="1575"/>
                  </a:lnTo>
                  <a:lnTo>
                    <a:pt x="0" y="2024"/>
                  </a:lnTo>
                  <a:lnTo>
                    <a:pt x="75" y="2399"/>
                  </a:lnTo>
                  <a:lnTo>
                    <a:pt x="150" y="2774"/>
                  </a:lnTo>
                  <a:lnTo>
                    <a:pt x="375" y="3073"/>
                  </a:lnTo>
                  <a:lnTo>
                    <a:pt x="600" y="3373"/>
                  </a:lnTo>
                  <a:lnTo>
                    <a:pt x="900" y="3673"/>
                  </a:lnTo>
                  <a:lnTo>
                    <a:pt x="1200" y="3823"/>
                  </a:lnTo>
                  <a:lnTo>
                    <a:pt x="1574" y="3973"/>
                  </a:lnTo>
                  <a:lnTo>
                    <a:pt x="2399" y="3973"/>
                  </a:lnTo>
                  <a:lnTo>
                    <a:pt x="2773"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3" y="151"/>
                  </a:lnTo>
                  <a:lnTo>
                    <a:pt x="2399" y="76"/>
                  </a:lnTo>
                  <a:lnTo>
                    <a:pt x="202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311;p32">
            <a:extLst>
              <a:ext uri="{FF2B5EF4-FFF2-40B4-BE49-F238E27FC236}">
                <a16:creationId xmlns:a16="http://schemas.microsoft.com/office/drawing/2014/main" id="{4233C3C3-46C2-1905-548B-5CC9CF21A48C}"/>
              </a:ext>
            </a:extLst>
          </p:cNvPr>
          <p:cNvSpPr txBox="1">
            <a:spLocks/>
          </p:cNvSpPr>
          <p:nvPr/>
        </p:nvSpPr>
        <p:spPr>
          <a:xfrm>
            <a:off x="5207092" y="1530792"/>
            <a:ext cx="2406838" cy="22436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Quicksand"/>
              <a:buChar char="◦"/>
              <a:defRPr sz="2400" b="0" i="0" u="none" strike="noStrike" cap="none">
                <a:solidFill>
                  <a:schemeClr val="lt1"/>
                </a:solidFill>
                <a:latin typeface="Quicksand"/>
                <a:ea typeface="Quicksand"/>
                <a:cs typeface="Quicksand"/>
                <a:sym typeface="Quicksand"/>
              </a:defRPr>
            </a:lvl1pPr>
            <a:lvl2pPr marL="914400" marR="0" lvl="1" indent="-381000" algn="l" rtl="0">
              <a:lnSpc>
                <a:spcPct val="100000"/>
              </a:lnSpc>
              <a:spcBef>
                <a:spcPts val="0"/>
              </a:spcBef>
              <a:spcAft>
                <a:spcPts val="0"/>
              </a:spcAft>
              <a:buClr>
                <a:schemeClr val="accent1"/>
              </a:buClr>
              <a:buSzPts val="2400"/>
              <a:buFont typeface="Quicksand"/>
              <a:buChar char="▫"/>
              <a:defRPr sz="2400" b="0" i="0" u="none" strike="noStrike" cap="none">
                <a:solidFill>
                  <a:schemeClr val="lt1"/>
                </a:solidFill>
                <a:latin typeface="Quicksand"/>
                <a:ea typeface="Quicksand"/>
                <a:cs typeface="Quicksand"/>
                <a:sym typeface="Quicksand"/>
              </a:defRPr>
            </a:lvl2pPr>
            <a:lvl3pPr marL="1371600" marR="0" lvl="2" indent="-381000" algn="l" rtl="0">
              <a:lnSpc>
                <a:spcPct val="100000"/>
              </a:lnSpc>
              <a:spcBef>
                <a:spcPts val="0"/>
              </a:spcBef>
              <a:spcAft>
                <a:spcPts val="0"/>
              </a:spcAft>
              <a:buClr>
                <a:schemeClr val="accent1"/>
              </a:buClr>
              <a:buSzPts val="2400"/>
              <a:buFont typeface="Quicksand"/>
              <a:buChar char="■"/>
              <a:defRPr sz="2400" b="0" i="0" u="none" strike="noStrike" cap="none">
                <a:solidFill>
                  <a:schemeClr val="lt1"/>
                </a:solidFill>
                <a:latin typeface="Quicksand"/>
                <a:ea typeface="Quicksand"/>
                <a:cs typeface="Quicksand"/>
                <a:sym typeface="Quicksand"/>
              </a:defRPr>
            </a:lvl3pPr>
            <a:lvl4pPr marL="1828800" marR="0" lvl="3"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4pPr>
            <a:lvl5pPr marL="2286000" marR="0" lvl="4"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5pPr>
            <a:lvl6pPr marL="2743200" marR="0" lvl="5"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6pPr>
            <a:lvl7pPr marL="3200400" marR="0" lvl="6"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7pPr>
            <a:lvl8pPr marL="3657600" marR="0" lvl="7"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8pPr>
            <a:lvl9pPr marL="4114800" marR="0" lvl="8"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9pPr>
          </a:lstStyle>
          <a:p>
            <a:pPr marL="0" indent="0">
              <a:buNone/>
            </a:pPr>
            <a:r>
              <a:rPr lang="en-US" sz="3000" dirty="0"/>
              <a:t>Presented by</a:t>
            </a:r>
            <a:br>
              <a:rPr lang="en-US" sz="3000" dirty="0"/>
            </a:br>
            <a:r>
              <a:rPr lang="en-US" sz="3000" dirty="0"/>
              <a:t>-TEAM MEMBERS</a:t>
            </a:r>
          </a:p>
        </p:txBody>
      </p:sp>
      <p:sp>
        <p:nvSpPr>
          <p:cNvPr id="6" name="Rectangle: Rounded Corners 5">
            <a:extLst>
              <a:ext uri="{FF2B5EF4-FFF2-40B4-BE49-F238E27FC236}">
                <a16:creationId xmlns:a16="http://schemas.microsoft.com/office/drawing/2014/main" id="{4B05FF61-51B9-DB48-1853-270694077BA7}"/>
              </a:ext>
            </a:extLst>
          </p:cNvPr>
          <p:cNvSpPr/>
          <p:nvPr/>
        </p:nvSpPr>
        <p:spPr>
          <a:xfrm>
            <a:off x="1147520" y="780456"/>
            <a:ext cx="151254" cy="105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3387E838-FE11-2772-1BBB-A0572A1B607E}"/>
              </a:ext>
            </a:extLst>
          </p:cNvPr>
          <p:cNvSpPr/>
          <p:nvPr/>
        </p:nvSpPr>
        <p:spPr>
          <a:xfrm>
            <a:off x="1140008" y="1778504"/>
            <a:ext cx="151254" cy="105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9536EDCB-36C0-5870-767B-16BB43F138D2}"/>
              </a:ext>
            </a:extLst>
          </p:cNvPr>
          <p:cNvSpPr/>
          <p:nvPr/>
        </p:nvSpPr>
        <p:spPr>
          <a:xfrm>
            <a:off x="1140008" y="2547179"/>
            <a:ext cx="151254" cy="105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B9A899C6-CEEE-0C10-0861-3FA8F2FD550A}"/>
              </a:ext>
            </a:extLst>
          </p:cNvPr>
          <p:cNvSpPr/>
          <p:nvPr/>
        </p:nvSpPr>
        <p:spPr>
          <a:xfrm>
            <a:off x="1147520" y="3510851"/>
            <a:ext cx="151254" cy="105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3"/>
          <p:cNvSpPr txBox="1">
            <a:spLocks noGrp="1"/>
          </p:cNvSpPr>
          <p:nvPr>
            <p:ph type="title"/>
          </p:nvPr>
        </p:nvSpPr>
        <p:spPr>
          <a:xfrm>
            <a:off x="1143000" y="386233"/>
            <a:ext cx="6858000" cy="482097"/>
          </a:xfrm>
          <a:prstGeom prst="rect">
            <a:avLst/>
          </a:prstGeom>
        </p:spPr>
        <p:txBody>
          <a:bodyPr spcFirstLastPara="1" wrap="square" lIns="91425" tIns="91425" rIns="91425" bIns="91425" anchor="b" anchorCtr="0">
            <a:noAutofit/>
          </a:bodyPr>
          <a:lstStyle/>
          <a:p>
            <a:pPr lvl="0"/>
            <a:r>
              <a:rPr lang="en-IN" sz="2400" dirty="0"/>
              <a:t>Problem Statement</a:t>
            </a:r>
            <a:endParaRPr sz="2400" dirty="0"/>
          </a:p>
        </p:txBody>
      </p:sp>
      <p:sp>
        <p:nvSpPr>
          <p:cNvPr id="7" name="Rectangle 6">
            <a:extLst>
              <a:ext uri="{FF2B5EF4-FFF2-40B4-BE49-F238E27FC236}">
                <a16:creationId xmlns:a16="http://schemas.microsoft.com/office/drawing/2014/main" id="{E9DFED28-D22B-AF0A-9FF3-ABABCE6E00F2}"/>
              </a:ext>
            </a:extLst>
          </p:cNvPr>
          <p:cNvSpPr>
            <a:spLocks noChangeArrowheads="1"/>
          </p:cNvSpPr>
          <p:nvPr/>
        </p:nvSpPr>
        <p:spPr bwMode="auto">
          <a:xfrm>
            <a:off x="1059565" y="949610"/>
            <a:ext cx="7874000"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2"/>
                </a:solidFill>
                <a:effectLst/>
                <a:latin typeface="Arial" panose="020B0604020202020204" pitchFamily="34" charset="0"/>
              </a:rPr>
              <a:t>Educational institutions regularly collect attendance data, but it is mostly used only for maintaining records. The data is not properly analyzed to understand how attendance affects student performance. The relationship between attendance and academic results is not clearly studied. As a result, weak students are often identified only after they score low in exams. Therefore, there is a need for a system that analyzes attendance data to identify at-risk students at an early stage.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4"/>
          <p:cNvSpPr txBox="1">
            <a:spLocks noGrp="1"/>
          </p:cNvSpPr>
          <p:nvPr>
            <p:ph type="ctrTitle" idx="4294967295"/>
          </p:nvPr>
        </p:nvSpPr>
        <p:spPr>
          <a:xfrm>
            <a:off x="884675" y="0"/>
            <a:ext cx="6671400" cy="82291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600" b="1" dirty="0">
                <a:solidFill>
                  <a:schemeClr val="dk1"/>
                </a:solidFill>
              </a:rPr>
              <a:t>I</a:t>
            </a:r>
            <a:r>
              <a:rPr lang="en-US" sz="4000" b="1" dirty="0">
                <a:solidFill>
                  <a:schemeClr val="dk1"/>
                </a:solidFill>
              </a:rPr>
              <a:t>NTRODUCTION</a:t>
            </a:r>
            <a:endParaRPr sz="4000" b="1" dirty="0">
              <a:solidFill>
                <a:schemeClr val="dk1"/>
              </a:solidFill>
            </a:endParaRPr>
          </a:p>
        </p:txBody>
      </p:sp>
      <p:sp>
        <p:nvSpPr>
          <p:cNvPr id="87" name="Google Shape;87;p14"/>
          <p:cNvSpPr txBox="1">
            <a:spLocks noGrp="1"/>
          </p:cNvSpPr>
          <p:nvPr>
            <p:ph type="body" idx="4294967295"/>
          </p:nvPr>
        </p:nvSpPr>
        <p:spPr>
          <a:xfrm>
            <a:off x="975360" y="741680"/>
            <a:ext cx="8168640" cy="4325751"/>
          </a:xfrm>
          <a:prstGeom prst="rect">
            <a:avLst/>
          </a:prstGeom>
        </p:spPr>
        <p:txBody>
          <a:bodyPr spcFirstLastPara="1" wrap="square" lIns="91425" tIns="91425" rIns="91425" bIns="91425" anchor="t" anchorCtr="0">
            <a:noAutofit/>
          </a:bodyPr>
          <a:lstStyle/>
          <a:p>
            <a:pPr marL="0" lvl="0" indent="0">
              <a:buNone/>
            </a:pPr>
            <a:r>
              <a:rPr lang="en-US" sz="2000" dirty="0"/>
              <a:t>Attendance plays an important role in student academic performance.</a:t>
            </a:r>
          </a:p>
          <a:p>
            <a:pPr marL="0" lvl="0" indent="0">
              <a:buNone/>
            </a:pPr>
            <a:r>
              <a:rPr lang="en-US" sz="2000" dirty="0"/>
              <a:t>Regular attendance helps students understand concepts better and score higher marks.</a:t>
            </a:r>
          </a:p>
          <a:p>
            <a:pPr marL="76200" indent="0">
              <a:buNone/>
            </a:pPr>
            <a:r>
              <a:rPr lang="en-US" sz="2000" dirty="0"/>
              <a:t>This project analyzes: </a:t>
            </a:r>
            <a:r>
              <a:rPr lang="en-US" sz="2000" dirty="0">
                <a:solidFill>
                  <a:schemeClr val="tx2"/>
                </a:solidFill>
              </a:rPr>
              <a:t>🔲</a:t>
            </a:r>
            <a:r>
              <a:rPr lang="en-US" sz="2000" dirty="0"/>
              <a:t> Attendance Percentage </a:t>
            </a:r>
            <a:r>
              <a:rPr lang="en-US" sz="2000" dirty="0">
                <a:solidFill>
                  <a:schemeClr val="tx2"/>
                </a:solidFill>
              </a:rPr>
              <a:t>🔲</a:t>
            </a:r>
            <a:r>
              <a:rPr lang="en-US" sz="2000" dirty="0"/>
              <a:t> Internal Marks </a:t>
            </a:r>
          </a:p>
          <a:p>
            <a:r>
              <a:rPr lang="en-US" sz="2000" dirty="0">
                <a:solidFill>
                  <a:schemeClr val="tx2"/>
                </a:solidFill>
              </a:rPr>
              <a:t>🔲 </a:t>
            </a:r>
            <a:r>
              <a:rPr lang="en-US" sz="2000" dirty="0"/>
              <a:t>Final Exam Marks </a:t>
            </a:r>
            <a:r>
              <a:rPr lang="en-US" sz="2000" dirty="0">
                <a:solidFill>
                  <a:schemeClr val="tx2"/>
                </a:solidFill>
              </a:rPr>
              <a:t>🔲 </a:t>
            </a:r>
            <a:r>
              <a:rPr lang="en-US" sz="2000" dirty="0"/>
              <a:t>CGPA</a:t>
            </a:r>
          </a:p>
          <a:p>
            <a:pPr marL="76200" indent="0">
              <a:buNone/>
            </a:pPr>
            <a:r>
              <a:rPr lang="en-US" sz="2000" dirty="0"/>
              <a:t>By analyzing these factors, students' performance levels can be understood clearly.</a:t>
            </a:r>
          </a:p>
          <a:p>
            <a:pPr marL="76200" indent="0">
              <a:buNone/>
            </a:pPr>
            <a:r>
              <a:rPr lang="en-US" sz="2000" dirty="0"/>
              <a:t>Based on the analysis, students are classified into:</a:t>
            </a:r>
          </a:p>
          <a:p>
            <a:pPr marL="0" indent="0">
              <a:buNone/>
            </a:pPr>
            <a:r>
              <a:rPr lang="en-US" sz="2000" dirty="0">
                <a:solidFill>
                  <a:schemeClr val="lt2"/>
                </a:solidFill>
              </a:rPr>
              <a:t>▫️Good  ▫️Average▫️ Poor</a:t>
            </a:r>
          </a:p>
          <a:p>
            <a:pPr marL="0" lvl="0" indent="0">
              <a:buNone/>
            </a:pPr>
            <a:r>
              <a:rPr lang="en-US" sz="2000" dirty="0"/>
              <a:t>This helps in identifying weak students early and providing timely support.</a:t>
            </a:r>
            <a:endParaRPr sz="2200" dirty="0">
              <a:solidFill>
                <a:schemeClr val="l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ctrTitle"/>
          </p:nvPr>
        </p:nvSpPr>
        <p:spPr>
          <a:xfrm>
            <a:off x="927608" y="0"/>
            <a:ext cx="6767100" cy="532200"/>
          </a:xfrm>
          <a:prstGeom prst="rect">
            <a:avLst/>
          </a:prstGeom>
        </p:spPr>
        <p:txBody>
          <a:bodyPr spcFirstLastPara="1" wrap="square" lIns="91425" tIns="91425" rIns="91425" bIns="91425" anchor="ctr" anchorCtr="0">
            <a:noAutofit/>
          </a:bodyPr>
          <a:lstStyle/>
          <a:p>
            <a:pPr lvl="0"/>
            <a:r>
              <a:rPr lang="en-IN" sz="3600" b="1" dirty="0"/>
              <a:t>Tools &amp; Methodologies Used</a:t>
            </a:r>
            <a:endParaRPr sz="3600" b="1" dirty="0"/>
          </a:p>
        </p:txBody>
      </p:sp>
      <p:sp>
        <p:nvSpPr>
          <p:cNvPr id="95" name="Google Shape;95;p15"/>
          <p:cNvSpPr txBox="1">
            <a:spLocks noGrp="1"/>
          </p:cNvSpPr>
          <p:nvPr>
            <p:ph type="subTitle" idx="1"/>
          </p:nvPr>
        </p:nvSpPr>
        <p:spPr>
          <a:xfrm>
            <a:off x="1113267" y="382012"/>
            <a:ext cx="7620070" cy="4618512"/>
          </a:xfrm>
          <a:prstGeom prst="rect">
            <a:avLst/>
          </a:prstGeom>
        </p:spPr>
        <p:txBody>
          <a:bodyPr spcFirstLastPara="1" wrap="square" lIns="91425" tIns="91425" rIns="91425" bIns="91425" anchor="t" anchorCtr="0">
            <a:noAutofit/>
          </a:bodyPr>
          <a:lstStyle/>
          <a:p>
            <a:pPr marL="0" lvl="0" indent="0"/>
            <a:r>
              <a:rPr lang="en-US" sz="1500" b="1" dirty="0">
                <a:solidFill>
                  <a:schemeClr val="bg1"/>
                </a:solidFill>
              </a:rPr>
              <a:t>Tool :  </a:t>
            </a:r>
          </a:p>
          <a:p>
            <a:pPr marL="0" lvl="0" indent="0"/>
            <a:r>
              <a:rPr lang="en-US" sz="1500" dirty="0"/>
              <a:t>WEKA (Waikato Environment for Knowledge Analysis) – used to perform data mining and machine learning tasks.</a:t>
            </a:r>
          </a:p>
          <a:p>
            <a:pPr marL="0" lvl="0" indent="0"/>
            <a:r>
              <a:rPr lang="en-IN" sz="1500" b="1" dirty="0"/>
              <a:t>Methodologies:</a:t>
            </a:r>
          </a:p>
          <a:p>
            <a:pPr marL="0" lvl="0" indent="0"/>
            <a:r>
              <a:rPr lang="en-US" sz="1500" dirty="0"/>
              <a:t>⚪</a:t>
            </a:r>
            <a:r>
              <a:rPr lang="en-IN" sz="1500" b="1" dirty="0"/>
              <a:t>Data Preprocessing</a:t>
            </a:r>
          </a:p>
          <a:p>
            <a:pPr marL="0" lvl="0" indent="0"/>
            <a:r>
              <a:rPr lang="en-US" sz="1500" dirty="0"/>
              <a:t>The dataset was cleaned by removing duplicate and unnecessary attributes . This helps improve the quality of the data before applying algorithms.</a:t>
            </a:r>
            <a:endParaRPr lang="en-IN" sz="1500" dirty="0"/>
          </a:p>
          <a:p>
            <a:pPr marL="0" lvl="0" indent="0"/>
            <a:r>
              <a:rPr lang="en-US" sz="1500" dirty="0"/>
              <a:t>⚪ </a:t>
            </a:r>
            <a:r>
              <a:rPr lang="en-IN" sz="1500" b="1" dirty="0"/>
              <a:t>Classification</a:t>
            </a:r>
          </a:p>
          <a:p>
            <a:pPr marL="0" lvl="0" indent="0"/>
            <a:r>
              <a:rPr lang="en-US" sz="1500" dirty="0"/>
              <a:t>The J48 Decision Tree algorithm was used to classify students into Good, Average, and Poor categories based on their performance.</a:t>
            </a:r>
            <a:endParaRPr lang="en-IN" sz="1500" dirty="0"/>
          </a:p>
          <a:p>
            <a:pPr marL="0" lvl="0" indent="0"/>
            <a:r>
              <a:rPr lang="en-US" sz="1500" dirty="0"/>
              <a:t>⚪ </a:t>
            </a:r>
            <a:r>
              <a:rPr lang="en-IN" sz="1500" b="1" dirty="0"/>
              <a:t>Clustering</a:t>
            </a:r>
          </a:p>
          <a:p>
            <a:pPr marL="0" lvl="0" indent="0"/>
            <a:r>
              <a:rPr lang="en-US" sz="1500" dirty="0"/>
              <a:t>The Simple K-Means algorithm was used to group students with similar attendance and marks.</a:t>
            </a:r>
            <a:endParaRPr lang="en-IN" sz="1500" dirty="0"/>
          </a:p>
          <a:p>
            <a:pPr marL="0" lvl="0" indent="0"/>
            <a:r>
              <a:rPr lang="en-US" sz="1500" dirty="0"/>
              <a:t>⚪ </a:t>
            </a:r>
            <a:r>
              <a:rPr lang="en-IN" sz="1500" b="1" dirty="0"/>
              <a:t>Visualization</a:t>
            </a:r>
          </a:p>
          <a:p>
            <a:pPr marL="0" lvl="0" indent="0"/>
            <a:r>
              <a:rPr lang="en-US" sz="1500" dirty="0"/>
              <a:t>Graphs such as scatter plots were used to clearly observe the relationship between attendance and CGPA.</a:t>
            </a:r>
          </a:p>
          <a:p>
            <a:pPr marL="0" lvl="0" indent="0"/>
            <a:r>
              <a:rPr lang="en-US" sz="1500" dirty="0"/>
              <a:t>⚪ </a:t>
            </a:r>
            <a:r>
              <a:rPr lang="en-US" sz="1500" b="1" dirty="0"/>
              <a:t>Association Rule Mining</a:t>
            </a:r>
          </a:p>
          <a:p>
            <a:pPr marL="0" lvl="0" indent="0"/>
            <a:r>
              <a:rPr lang="en-US" sz="1500" dirty="0"/>
              <a:t>Identifies relationships between attendance, marks, and performance using support and confidence. Generates meaningful rules using algorithms like </a:t>
            </a:r>
            <a:r>
              <a:rPr lang="en-US" sz="1500" dirty="0" err="1"/>
              <a:t>Apriori</a:t>
            </a:r>
            <a:r>
              <a:rPr lang="en-US" sz="1500" dirty="0"/>
              <a:t>, FP-Growth, and ECLAT to detect patterns such as low attendance leading to poor performance.</a:t>
            </a:r>
          </a:p>
          <a:p>
            <a:pPr marL="0" lvl="0" indent="0"/>
            <a:endParaRPr sz="1500" dirty="0"/>
          </a:p>
        </p:txBody>
      </p:sp>
      <p:sp>
        <p:nvSpPr>
          <p:cNvPr id="96" name="Google Shape;96;p15"/>
          <p:cNvSpPr txBox="1"/>
          <p:nvPr/>
        </p:nvSpPr>
        <p:spPr>
          <a:xfrm>
            <a:off x="526358" y="2279925"/>
            <a:ext cx="802500" cy="5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dirty="0">
                <a:solidFill>
                  <a:srgbClr val="2E3037"/>
                </a:solidFill>
                <a:latin typeface="Quicksand"/>
                <a:ea typeface="Quicksand"/>
                <a:cs typeface="Quicksand"/>
                <a:sym typeface="Quicksand"/>
              </a:rPr>
              <a:t>📈</a:t>
            </a:r>
            <a:endParaRPr sz="3000" dirty="0">
              <a:solidFill>
                <a:srgbClr val="2E3037"/>
              </a:solidFill>
              <a:latin typeface="Quicksand"/>
              <a:ea typeface="Quicksand"/>
              <a:cs typeface="Quicksand"/>
              <a:sym typeface="Quicksa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body" idx="1"/>
          </p:nvPr>
        </p:nvSpPr>
        <p:spPr>
          <a:xfrm>
            <a:off x="1138690" y="583380"/>
            <a:ext cx="7513695" cy="4189376"/>
          </a:xfrm>
          <a:prstGeom prst="rect">
            <a:avLst/>
          </a:prstGeom>
        </p:spPr>
        <p:txBody>
          <a:bodyPr spcFirstLastPara="1" wrap="square" lIns="91425" tIns="91425" rIns="91425" bIns="91425" anchor="ctr" anchorCtr="0">
            <a:noAutofit/>
          </a:bodyPr>
          <a:lstStyle/>
          <a:p>
            <a:pPr marL="0" lvl="0" indent="0">
              <a:buNone/>
            </a:pPr>
            <a:r>
              <a:rPr lang="en-US" sz="1500" dirty="0">
                <a:solidFill>
                  <a:schemeClr val="accent2">
                    <a:lumMod val="20000"/>
                    <a:lumOff val="80000"/>
                  </a:schemeClr>
                </a:solidFill>
              </a:rPr>
              <a:t>The dataset contains information related to student attendance and academic performance.</a:t>
            </a:r>
          </a:p>
          <a:p>
            <a:pPr marL="0" lvl="0" indent="0">
              <a:buNone/>
            </a:pPr>
            <a:r>
              <a:rPr lang="en-IN" sz="1500" dirty="0">
                <a:solidFill>
                  <a:schemeClr val="accent2">
                    <a:lumMod val="20000"/>
                    <a:lumOff val="80000"/>
                  </a:schemeClr>
                </a:solidFill>
              </a:rPr>
              <a:t>Attributes included:</a:t>
            </a:r>
          </a:p>
          <a:p>
            <a:pPr lvl="0" indent="-457200">
              <a:buFont typeface="Arial" panose="020B0604020202020204" pitchFamily="34" charset="0"/>
              <a:buChar char="•"/>
            </a:pPr>
            <a:r>
              <a:rPr lang="en-US" sz="1500" dirty="0">
                <a:solidFill>
                  <a:schemeClr val="accent2">
                    <a:lumMod val="20000"/>
                    <a:lumOff val="80000"/>
                  </a:schemeClr>
                </a:solidFill>
              </a:rPr>
              <a:t>Student ID</a:t>
            </a:r>
          </a:p>
          <a:p>
            <a:pPr lvl="0" indent="-457200">
              <a:buFont typeface="Arial" panose="020B0604020202020204" pitchFamily="34" charset="0"/>
              <a:buChar char="•"/>
            </a:pPr>
            <a:r>
              <a:rPr lang="en-US" sz="1500" dirty="0">
                <a:solidFill>
                  <a:schemeClr val="accent2">
                    <a:lumMod val="20000"/>
                    <a:lumOff val="80000"/>
                  </a:schemeClr>
                </a:solidFill>
              </a:rPr>
              <a:t>Class</a:t>
            </a:r>
          </a:p>
          <a:p>
            <a:pPr lvl="0" indent="-457200">
              <a:buFont typeface="Arial" panose="020B0604020202020204" pitchFamily="34" charset="0"/>
              <a:buChar char="•"/>
            </a:pPr>
            <a:r>
              <a:rPr lang="en-US" sz="1500" dirty="0">
                <a:solidFill>
                  <a:schemeClr val="accent2">
                    <a:lumMod val="20000"/>
                    <a:lumOff val="80000"/>
                  </a:schemeClr>
                </a:solidFill>
              </a:rPr>
              <a:t>Section</a:t>
            </a:r>
          </a:p>
          <a:p>
            <a:pPr lvl="0" indent="-457200">
              <a:buFont typeface="Arial" panose="020B0604020202020204" pitchFamily="34" charset="0"/>
              <a:buChar char="•"/>
            </a:pPr>
            <a:r>
              <a:rPr lang="en-US" sz="1500" dirty="0">
                <a:solidFill>
                  <a:schemeClr val="accent2">
                    <a:lumMod val="20000"/>
                    <a:lumOff val="80000"/>
                  </a:schemeClr>
                </a:solidFill>
              </a:rPr>
              <a:t>Subject</a:t>
            </a:r>
          </a:p>
          <a:p>
            <a:pPr lvl="0" indent="-457200">
              <a:buFont typeface="Arial" panose="020B0604020202020204" pitchFamily="34" charset="0"/>
              <a:buChar char="•"/>
            </a:pPr>
            <a:r>
              <a:rPr lang="en-US" sz="1500" dirty="0">
                <a:solidFill>
                  <a:schemeClr val="accent2">
                    <a:lumMod val="20000"/>
                    <a:lumOff val="80000"/>
                  </a:schemeClr>
                </a:solidFill>
              </a:rPr>
              <a:t>Total Classes</a:t>
            </a:r>
          </a:p>
          <a:p>
            <a:pPr lvl="0" indent="-457200">
              <a:buFont typeface="Arial" panose="020B0604020202020204" pitchFamily="34" charset="0"/>
              <a:buChar char="•"/>
            </a:pPr>
            <a:r>
              <a:rPr lang="en-US" sz="1500" dirty="0">
                <a:solidFill>
                  <a:schemeClr val="accent2">
                    <a:lumMod val="20000"/>
                    <a:lumOff val="80000"/>
                  </a:schemeClr>
                </a:solidFill>
              </a:rPr>
              <a:t>Classes Attended</a:t>
            </a:r>
          </a:p>
          <a:p>
            <a:pPr lvl="0" indent="-457200">
              <a:buFont typeface="Arial" panose="020B0604020202020204" pitchFamily="34" charset="0"/>
              <a:buChar char="•"/>
            </a:pPr>
            <a:r>
              <a:rPr lang="en-US" sz="1500" dirty="0">
                <a:solidFill>
                  <a:schemeClr val="accent2">
                    <a:lumMod val="20000"/>
                    <a:lumOff val="80000"/>
                  </a:schemeClr>
                </a:solidFill>
              </a:rPr>
              <a:t> Attendance Percentage</a:t>
            </a:r>
          </a:p>
          <a:p>
            <a:pPr lvl="0" indent="-457200">
              <a:buFont typeface="Arial" panose="020B0604020202020204" pitchFamily="34" charset="0"/>
              <a:buChar char="•"/>
            </a:pPr>
            <a:r>
              <a:rPr lang="en-US" sz="1500" dirty="0">
                <a:solidFill>
                  <a:schemeClr val="accent2">
                    <a:lumMod val="20000"/>
                    <a:lumOff val="80000"/>
                  </a:schemeClr>
                </a:solidFill>
              </a:rPr>
              <a:t> Internal Marks</a:t>
            </a:r>
          </a:p>
          <a:p>
            <a:pPr lvl="0" indent="-457200">
              <a:buFont typeface="Arial" panose="020B0604020202020204" pitchFamily="34" charset="0"/>
              <a:buChar char="•"/>
            </a:pPr>
            <a:r>
              <a:rPr lang="en-US" sz="1500" dirty="0">
                <a:solidFill>
                  <a:schemeClr val="accent2">
                    <a:lumMod val="20000"/>
                    <a:lumOff val="80000"/>
                  </a:schemeClr>
                </a:solidFill>
              </a:rPr>
              <a:t>Final Exam Marks</a:t>
            </a:r>
          </a:p>
          <a:p>
            <a:pPr lvl="0" indent="-457200">
              <a:buFont typeface="Arial" panose="020B0604020202020204" pitchFamily="34" charset="0"/>
              <a:buChar char="•"/>
            </a:pPr>
            <a:r>
              <a:rPr lang="en-US" sz="1500" dirty="0">
                <a:solidFill>
                  <a:schemeClr val="accent2">
                    <a:lumMod val="20000"/>
                    <a:lumOff val="80000"/>
                  </a:schemeClr>
                </a:solidFill>
              </a:rPr>
              <a:t>CGPA</a:t>
            </a:r>
          </a:p>
          <a:p>
            <a:pPr lvl="0" indent="-457200">
              <a:buFont typeface="Arial" panose="020B0604020202020204" pitchFamily="34" charset="0"/>
              <a:buChar char="•"/>
            </a:pPr>
            <a:r>
              <a:rPr lang="en-US" sz="1500" dirty="0">
                <a:solidFill>
                  <a:schemeClr val="accent2">
                    <a:lumMod val="20000"/>
                    <a:lumOff val="80000"/>
                  </a:schemeClr>
                </a:solidFill>
              </a:rPr>
              <a:t>Performance Status</a:t>
            </a:r>
          </a:p>
          <a:p>
            <a:pPr marL="0" lvl="0" indent="0">
              <a:buNone/>
            </a:pPr>
            <a:r>
              <a:rPr lang="en-US" sz="1500" dirty="0">
                <a:solidFill>
                  <a:schemeClr val="accent2">
                    <a:lumMod val="20000"/>
                    <a:lumOff val="80000"/>
                  </a:schemeClr>
                </a:solidFill>
              </a:rPr>
              <a:t>By using these attributes, we can analyze the relationship between attendance and academic results and identify weak students.</a:t>
            </a:r>
            <a:endParaRPr sz="1500" dirty="0">
              <a:solidFill>
                <a:schemeClr val="accent2">
                  <a:lumMod val="20000"/>
                  <a:lumOff val="80000"/>
                </a:schemeClr>
              </a:solidFill>
            </a:endParaRPr>
          </a:p>
        </p:txBody>
      </p:sp>
      <p:sp>
        <p:nvSpPr>
          <p:cNvPr id="2" name="Google Shape;108;p17">
            <a:extLst>
              <a:ext uri="{FF2B5EF4-FFF2-40B4-BE49-F238E27FC236}">
                <a16:creationId xmlns:a16="http://schemas.microsoft.com/office/drawing/2014/main" id="{EC34A7C6-B455-1037-EDA9-1A43D0EF65ED}"/>
              </a:ext>
            </a:extLst>
          </p:cNvPr>
          <p:cNvSpPr txBox="1">
            <a:spLocks/>
          </p:cNvSpPr>
          <p:nvPr/>
        </p:nvSpPr>
        <p:spPr>
          <a:xfrm>
            <a:off x="1138690" y="422938"/>
            <a:ext cx="6858000" cy="54291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sz="3000" b="1" dirty="0">
              <a:solidFill>
                <a:srgbClr val="39C0BA"/>
              </a:solidFill>
            </a:endParaRPr>
          </a:p>
          <a:p>
            <a:r>
              <a:rPr lang="en-IN" sz="3000" b="1" dirty="0">
                <a:solidFill>
                  <a:srgbClr val="39C0BA"/>
                </a:solidFill>
              </a:rPr>
              <a:t>Dataset Attributes</a:t>
            </a:r>
          </a:p>
          <a:p>
            <a:endParaRPr lang="en-IN" sz="3000" b="1" dirty="0">
              <a:solidFill>
                <a:srgbClr val="39C0B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p:nvPr/>
        </p:nvSpPr>
        <p:spPr>
          <a:xfrm>
            <a:off x="213360" y="91348"/>
            <a:ext cx="939800" cy="650331"/>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r>
              <a:rPr lang="en-IN" sz="2800" dirty="0"/>
              <a:t>📑</a:t>
            </a:r>
            <a:endParaRPr sz="2800" dirty="0"/>
          </a:p>
        </p:txBody>
      </p:sp>
      <p:sp>
        <p:nvSpPr>
          <p:cNvPr id="116" name="Google Shape;116;p18"/>
          <p:cNvSpPr txBox="1">
            <a:spLocks noGrp="1"/>
          </p:cNvSpPr>
          <p:nvPr>
            <p:ph type="ctrTitle"/>
          </p:nvPr>
        </p:nvSpPr>
        <p:spPr>
          <a:xfrm>
            <a:off x="1153160" y="-270338"/>
            <a:ext cx="6680400" cy="1159800"/>
          </a:xfrm>
          <a:prstGeom prst="rect">
            <a:avLst/>
          </a:prstGeom>
        </p:spPr>
        <p:txBody>
          <a:bodyPr spcFirstLastPara="1" wrap="square" lIns="91425" tIns="91425" rIns="91425" bIns="91425" anchor="ctr" anchorCtr="0">
            <a:noAutofit/>
          </a:bodyPr>
          <a:lstStyle/>
          <a:p>
            <a:pPr lvl="0"/>
            <a:r>
              <a:rPr lang="en-IN" sz="4400" dirty="0"/>
              <a:t>Dataset Description</a:t>
            </a:r>
            <a:endParaRPr sz="4400" dirty="0"/>
          </a:p>
        </p:txBody>
      </p:sp>
      <p:sp>
        <p:nvSpPr>
          <p:cNvPr id="117" name="Google Shape;117;p18"/>
          <p:cNvSpPr txBox="1">
            <a:spLocks noGrp="1"/>
          </p:cNvSpPr>
          <p:nvPr>
            <p:ph type="subTitle" idx="4294967295"/>
          </p:nvPr>
        </p:nvSpPr>
        <p:spPr>
          <a:xfrm>
            <a:off x="5946140" y="309562"/>
            <a:ext cx="4481630" cy="3635375"/>
          </a:xfrm>
          <a:prstGeom prst="rect">
            <a:avLst/>
          </a:prstGeom>
        </p:spPr>
        <p:txBody>
          <a:bodyPr spcFirstLastPara="1" wrap="square" lIns="91425" tIns="91425" rIns="91425" bIns="91425" anchor="t" anchorCtr="0">
            <a:noAutofit/>
          </a:bodyPr>
          <a:lstStyle/>
          <a:p>
            <a:pPr marL="0" lvl="0" indent="0">
              <a:buNone/>
            </a:pPr>
            <a:r>
              <a:rPr lang="en-IN" b="1" dirty="0"/>
              <a:t>Source: </a:t>
            </a:r>
            <a:r>
              <a:rPr lang="en-IN" dirty="0"/>
              <a:t>Kaggle</a:t>
            </a:r>
          </a:p>
          <a:p>
            <a:pPr marL="0" lvl="0" indent="0">
              <a:buNone/>
            </a:pPr>
            <a:r>
              <a:rPr lang="en-IN" b="1" dirty="0"/>
              <a:t>Dataset Information:</a:t>
            </a:r>
          </a:p>
          <a:p>
            <a:pPr marL="0" lvl="0" indent="0">
              <a:buNone/>
            </a:pPr>
            <a:r>
              <a:rPr lang="en-US" dirty="0"/>
              <a:t>Total Records(Before Cleaning): 2505      </a:t>
            </a:r>
          </a:p>
          <a:p>
            <a:pPr marL="0" lvl="0" indent="0">
              <a:buNone/>
            </a:pPr>
            <a:r>
              <a:rPr lang="en-US" dirty="0"/>
              <a:t>Duplicate Records</a:t>
            </a:r>
          </a:p>
          <a:p>
            <a:pPr marL="0" lvl="0" indent="0">
              <a:buNone/>
            </a:pPr>
            <a:r>
              <a:rPr lang="en-US" dirty="0"/>
              <a:t> Removed: 5</a:t>
            </a:r>
          </a:p>
          <a:p>
            <a:pPr marL="0" lvl="0" indent="0">
              <a:buNone/>
            </a:pPr>
            <a:r>
              <a:rPr lang="en-US" dirty="0"/>
              <a:t>Final Records Used: </a:t>
            </a:r>
          </a:p>
          <a:p>
            <a:pPr marL="0" lvl="0" indent="0">
              <a:buNone/>
            </a:pPr>
            <a:r>
              <a:rPr lang="en-US" dirty="0"/>
              <a:t>2500</a:t>
            </a:r>
          </a:p>
          <a:p>
            <a:pPr marL="0" lvl="0" indent="0">
              <a:buNone/>
            </a:pPr>
            <a:r>
              <a:rPr lang="en-US" dirty="0"/>
              <a:t>Total Attributes: 11</a:t>
            </a:r>
          </a:p>
          <a:p>
            <a:pPr marL="0" lvl="0" indent="0">
              <a:buNone/>
            </a:pPr>
            <a:r>
              <a:rPr lang="en-US" dirty="0"/>
              <a:t>Format: CSV</a:t>
            </a:r>
          </a:p>
        </p:txBody>
      </p:sp>
      <p:pic>
        <p:nvPicPr>
          <p:cNvPr id="4" name="Picture 3">
            <a:extLst>
              <a:ext uri="{FF2B5EF4-FFF2-40B4-BE49-F238E27FC236}">
                <a16:creationId xmlns:a16="http://schemas.microsoft.com/office/drawing/2014/main" id="{F487B384-F80E-6052-E1D1-11B83D43FFFF}"/>
              </a:ext>
            </a:extLst>
          </p:cNvPr>
          <p:cNvPicPr>
            <a:picLocks noChangeAspect="1"/>
          </p:cNvPicPr>
          <p:nvPr/>
        </p:nvPicPr>
        <p:blipFill>
          <a:blip r:embed="rId3"/>
          <a:stretch>
            <a:fillRect/>
          </a:stretch>
        </p:blipFill>
        <p:spPr>
          <a:xfrm>
            <a:off x="132270" y="741679"/>
            <a:ext cx="5813870" cy="42272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32E321C7-E218-9B33-AF06-A1B1F7D4417A}"/>
            </a:ext>
          </a:extLst>
        </p:cNvPr>
        <p:cNvGrpSpPr/>
        <p:nvPr/>
      </p:nvGrpSpPr>
      <p:grpSpPr>
        <a:xfrm>
          <a:off x="0" y="0"/>
          <a:ext cx="0" cy="0"/>
          <a:chOff x="0" y="0"/>
          <a:chExt cx="0" cy="0"/>
        </a:xfrm>
      </p:grpSpPr>
      <p:sp>
        <p:nvSpPr>
          <p:cNvPr id="102" name="Google Shape;102;p16">
            <a:extLst>
              <a:ext uri="{FF2B5EF4-FFF2-40B4-BE49-F238E27FC236}">
                <a16:creationId xmlns:a16="http://schemas.microsoft.com/office/drawing/2014/main" id="{C65D599E-1DB2-18AC-447F-DE439A24417C}"/>
              </a:ext>
            </a:extLst>
          </p:cNvPr>
          <p:cNvSpPr txBox="1">
            <a:spLocks noGrp="1"/>
          </p:cNvSpPr>
          <p:nvPr>
            <p:ph type="body" idx="1"/>
          </p:nvPr>
        </p:nvSpPr>
        <p:spPr>
          <a:xfrm>
            <a:off x="1138690" y="965848"/>
            <a:ext cx="7384467" cy="3533000"/>
          </a:xfrm>
          <a:prstGeom prst="rect">
            <a:avLst/>
          </a:prstGeom>
        </p:spPr>
        <p:txBody>
          <a:bodyPr spcFirstLastPara="1" wrap="square" lIns="91425" tIns="91425" rIns="91425" bIns="91425" anchor="ctr" anchorCtr="0">
            <a:noAutofit/>
          </a:bodyPr>
          <a:lstStyle/>
          <a:p>
            <a:pPr marL="0" lvl="0" indent="0">
              <a:buNone/>
            </a:pPr>
            <a:r>
              <a:rPr lang="en-US" sz="2300" dirty="0">
                <a:solidFill>
                  <a:schemeClr val="accent2">
                    <a:lumMod val="20000"/>
                    <a:lumOff val="80000"/>
                  </a:schemeClr>
                </a:solidFill>
              </a:rPr>
              <a:t>Data preprocessing is the process of cleaning and preparing the dataset before applying machine learning algorithms.</a:t>
            </a:r>
          </a:p>
          <a:p>
            <a:pPr marL="0" lvl="0" indent="0">
              <a:buNone/>
            </a:pPr>
            <a:r>
              <a:rPr lang="en-US" sz="2300" dirty="0">
                <a:solidFill>
                  <a:schemeClr val="accent2">
                    <a:lumMod val="20000"/>
                    <a:lumOff val="80000"/>
                  </a:schemeClr>
                </a:solidFill>
              </a:rPr>
              <a:t>It helps improve the quality of the dataset so that the analysis becomes more accurate and reliable.</a:t>
            </a:r>
          </a:p>
          <a:p>
            <a:pPr marL="0" lvl="0" indent="0">
              <a:buNone/>
            </a:pPr>
            <a:r>
              <a:rPr lang="en-US" sz="2300" dirty="0">
                <a:solidFill>
                  <a:schemeClr val="accent2">
                    <a:lumMod val="20000"/>
                    <a:lumOff val="80000"/>
                  </a:schemeClr>
                </a:solidFill>
              </a:rPr>
              <a:t>In this project, preprocessing steps include duplicate removal, irrelevant attribute removal, missing value check, normalization, and standardization.</a:t>
            </a:r>
            <a:endParaRPr sz="2300" dirty="0">
              <a:solidFill>
                <a:schemeClr val="accent2">
                  <a:lumMod val="20000"/>
                  <a:lumOff val="80000"/>
                </a:schemeClr>
              </a:solidFill>
            </a:endParaRPr>
          </a:p>
        </p:txBody>
      </p:sp>
      <p:sp>
        <p:nvSpPr>
          <p:cNvPr id="2" name="Google Shape;108;p17">
            <a:extLst>
              <a:ext uri="{FF2B5EF4-FFF2-40B4-BE49-F238E27FC236}">
                <a16:creationId xmlns:a16="http://schemas.microsoft.com/office/drawing/2014/main" id="{D0F7D86A-3A7D-4C2F-DBAA-6CD8E641A828}"/>
              </a:ext>
            </a:extLst>
          </p:cNvPr>
          <p:cNvSpPr txBox="1">
            <a:spLocks/>
          </p:cNvSpPr>
          <p:nvPr/>
        </p:nvSpPr>
        <p:spPr>
          <a:xfrm>
            <a:off x="1260610" y="644652"/>
            <a:ext cx="6858000" cy="54291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sz="3000" b="1" dirty="0">
              <a:solidFill>
                <a:srgbClr val="39C0BA"/>
              </a:solidFill>
            </a:endParaRPr>
          </a:p>
          <a:p>
            <a:r>
              <a:rPr lang="en-IN" sz="4000" b="1" dirty="0">
                <a:solidFill>
                  <a:srgbClr val="39C0BA"/>
                </a:solidFill>
              </a:rPr>
              <a:t>Preprocessing Steps </a:t>
            </a:r>
          </a:p>
          <a:p>
            <a:endParaRPr lang="en-IN" sz="3000" b="1" dirty="0">
              <a:solidFill>
                <a:srgbClr val="39C0BA"/>
              </a:solidFill>
            </a:endParaRPr>
          </a:p>
        </p:txBody>
      </p:sp>
    </p:spTree>
    <p:extLst>
      <p:ext uri="{BB962C8B-B14F-4D97-AF65-F5344CB8AC3E}">
        <p14:creationId xmlns:p14="http://schemas.microsoft.com/office/powerpoint/2010/main" val="1675446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1165475" y="259729"/>
            <a:ext cx="6858000" cy="542911"/>
          </a:xfrm>
          <a:prstGeom prst="rect">
            <a:avLst/>
          </a:prstGeom>
        </p:spPr>
        <p:txBody>
          <a:bodyPr spcFirstLastPara="1" wrap="square" lIns="91425" tIns="91425" rIns="91425" bIns="91425" anchor="b" anchorCtr="0">
            <a:noAutofit/>
          </a:bodyPr>
          <a:lstStyle/>
          <a:p>
            <a:pPr lvl="0"/>
            <a:r>
              <a:rPr lang="en-US" sz="3000" b="1" dirty="0"/>
              <a:t>Duplicate Removal</a:t>
            </a:r>
            <a:endParaRPr sz="3000" b="1" dirty="0">
              <a:solidFill>
                <a:srgbClr val="39C0BA"/>
              </a:solidFill>
            </a:endParaRPr>
          </a:p>
        </p:txBody>
      </p:sp>
      <p:sp>
        <p:nvSpPr>
          <p:cNvPr id="109" name="Google Shape;109;p17"/>
          <p:cNvSpPr txBox="1">
            <a:spLocks noGrp="1"/>
          </p:cNvSpPr>
          <p:nvPr>
            <p:ph type="body" idx="1"/>
          </p:nvPr>
        </p:nvSpPr>
        <p:spPr>
          <a:xfrm>
            <a:off x="3661587" y="634166"/>
            <a:ext cx="5598160" cy="4509516"/>
          </a:xfrm>
          <a:prstGeom prst="rect">
            <a:avLst/>
          </a:prstGeom>
        </p:spPr>
        <p:txBody>
          <a:bodyPr spcFirstLastPara="1" wrap="square" lIns="91425" tIns="91425" rIns="91425" bIns="91425" anchor="t" anchorCtr="0">
            <a:noAutofit/>
          </a:bodyPr>
          <a:lstStyle/>
          <a:p>
            <a:pPr marL="0" lvl="0" indent="0">
              <a:buNone/>
            </a:pPr>
            <a:r>
              <a:rPr lang="en-US" sz="2000" dirty="0"/>
              <a:t>The dataset initially contained 2505 records. Some records were repeated, meaning the same data appeared more than once .</a:t>
            </a:r>
          </a:p>
          <a:p>
            <a:pPr marL="0" lvl="0" indent="0">
              <a:buNone/>
            </a:pPr>
            <a:r>
              <a:rPr lang="en-US" sz="2000" dirty="0"/>
              <a:t>These duplicate records can affect the analysis and may lead to incorrect results .</a:t>
            </a:r>
          </a:p>
          <a:p>
            <a:pPr marL="0" lvl="0" indent="0">
              <a:buNone/>
            </a:pPr>
            <a:r>
              <a:rPr lang="en-US" sz="2000" dirty="0"/>
              <a:t>To avoid this problem, 5 duplicate records were removed , resulting in 2500 unique records .</a:t>
            </a:r>
          </a:p>
          <a:p>
            <a:pPr marL="0" lvl="0" indent="0">
              <a:buNone/>
            </a:pPr>
            <a:r>
              <a:rPr lang="en-US" sz="2000" dirty="0"/>
              <a:t>Removing duplicate data helps ensure that each record represents a unique student and improves the reliability of the dataset.</a:t>
            </a:r>
            <a:endParaRPr sz="2000" dirty="0"/>
          </a:p>
        </p:txBody>
      </p:sp>
      <p:pic>
        <p:nvPicPr>
          <p:cNvPr id="3" name="Picture 2">
            <a:extLst>
              <a:ext uri="{FF2B5EF4-FFF2-40B4-BE49-F238E27FC236}">
                <a16:creationId xmlns:a16="http://schemas.microsoft.com/office/drawing/2014/main" id="{94CE6B4E-0BA3-2157-DA07-4FD74F825979}"/>
              </a:ext>
            </a:extLst>
          </p:cNvPr>
          <p:cNvPicPr>
            <a:picLocks noChangeAspect="1"/>
          </p:cNvPicPr>
          <p:nvPr/>
        </p:nvPicPr>
        <p:blipFill>
          <a:blip r:embed="rId3"/>
          <a:stretch>
            <a:fillRect/>
          </a:stretch>
        </p:blipFill>
        <p:spPr>
          <a:xfrm>
            <a:off x="201477" y="802640"/>
            <a:ext cx="3460109" cy="41931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9"/>
          <p:cNvSpPr txBox="1">
            <a:spLocks noGrp="1"/>
          </p:cNvSpPr>
          <p:nvPr>
            <p:ph type="body" idx="1"/>
          </p:nvPr>
        </p:nvSpPr>
        <p:spPr>
          <a:xfrm>
            <a:off x="1165475" y="1174117"/>
            <a:ext cx="33069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dirty="0"/>
          </a:p>
        </p:txBody>
      </p:sp>
      <p:sp>
        <p:nvSpPr>
          <p:cNvPr id="129" name="Google Shape;129;p19"/>
          <p:cNvSpPr txBox="1">
            <a:spLocks noGrp="1"/>
          </p:cNvSpPr>
          <p:nvPr>
            <p:ph type="title"/>
          </p:nvPr>
        </p:nvSpPr>
        <p:spPr>
          <a:xfrm>
            <a:off x="1043375" y="152115"/>
            <a:ext cx="6858000" cy="650966"/>
          </a:xfrm>
          <a:prstGeom prst="rect">
            <a:avLst/>
          </a:prstGeom>
        </p:spPr>
        <p:txBody>
          <a:bodyPr spcFirstLastPara="1" wrap="square" lIns="91425" tIns="91425" rIns="91425" bIns="91425" anchor="b" anchorCtr="0">
            <a:noAutofit/>
          </a:bodyPr>
          <a:lstStyle/>
          <a:p>
            <a:pPr lvl="0" fontAlgn="base"/>
            <a:r>
              <a:rPr lang="en-IN" sz="3200" b="1" dirty="0"/>
              <a:t>Irrelevant Attribute Removal:</a:t>
            </a:r>
            <a:r>
              <a:rPr lang="en-IN" sz="3200" dirty="0"/>
              <a:t> </a:t>
            </a:r>
            <a:br>
              <a:rPr lang="en-IN" dirty="0"/>
            </a:br>
            <a:r>
              <a:rPr lang="en-IN" dirty="0"/>
              <a:t> </a:t>
            </a:r>
            <a:endParaRPr dirty="0"/>
          </a:p>
        </p:txBody>
      </p:sp>
      <p:sp>
        <p:nvSpPr>
          <p:cNvPr id="130" name="Google Shape;130;p19"/>
          <p:cNvSpPr txBox="1">
            <a:spLocks noGrp="1"/>
          </p:cNvSpPr>
          <p:nvPr>
            <p:ph type="body" idx="2"/>
          </p:nvPr>
        </p:nvSpPr>
        <p:spPr>
          <a:xfrm>
            <a:off x="4211213" y="390530"/>
            <a:ext cx="4780010" cy="3817268"/>
          </a:xfrm>
          <a:prstGeom prst="rect">
            <a:avLst/>
          </a:prstGeom>
        </p:spPr>
        <p:txBody>
          <a:bodyPr spcFirstLastPara="1" wrap="square" lIns="91425" tIns="91425" rIns="91425" bIns="91425" anchor="t" anchorCtr="0">
            <a:noAutofit/>
          </a:bodyPr>
          <a:lstStyle/>
          <a:p>
            <a:pPr lvl="0" fontAlgn="base"/>
            <a:r>
              <a:rPr lang="en-US" dirty="0"/>
              <a:t>Some attributes in the dataset were not useful for predicting student performance .</a:t>
            </a:r>
          </a:p>
          <a:p>
            <a:pPr lvl="0" fontAlgn="base"/>
            <a:r>
              <a:rPr lang="en-US" dirty="0"/>
              <a:t>Attributes such as Student ID, Total Classes, and Classes Attended were removed using the Remove Filter in WEKA .</a:t>
            </a:r>
          </a:p>
          <a:p>
            <a:pPr lvl="0" fontAlgn="base"/>
            <a:r>
              <a:rPr lang="en-US" dirty="0"/>
              <a:t>These attributes were removed because they do not contribute to the prediction process .</a:t>
            </a:r>
          </a:p>
          <a:p>
            <a:pPr lvl="0" fontAlgn="base"/>
            <a:r>
              <a:rPr lang="en-US" dirty="0"/>
              <a:t>Removing unnecessary attributes helps reduce data complexity and improves the efficiency of the analysis.</a:t>
            </a:r>
            <a:endParaRPr dirty="0"/>
          </a:p>
        </p:txBody>
      </p:sp>
      <p:pic>
        <p:nvPicPr>
          <p:cNvPr id="4" name="Picture 3">
            <a:extLst>
              <a:ext uri="{FF2B5EF4-FFF2-40B4-BE49-F238E27FC236}">
                <a16:creationId xmlns:a16="http://schemas.microsoft.com/office/drawing/2014/main" id="{F82EFABB-04CD-3D03-879F-A6B0AC6293A8}"/>
              </a:ext>
            </a:extLst>
          </p:cNvPr>
          <p:cNvPicPr>
            <a:picLocks noChangeAspect="1"/>
          </p:cNvPicPr>
          <p:nvPr/>
        </p:nvPicPr>
        <p:blipFill>
          <a:blip r:embed="rId3"/>
          <a:srcRect t="2745" b="5364"/>
          <a:stretch>
            <a:fillRect/>
          </a:stretch>
        </p:blipFill>
        <p:spPr>
          <a:xfrm>
            <a:off x="75626" y="659758"/>
            <a:ext cx="4496373" cy="43316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0"/>
          <p:cNvSpPr txBox="1">
            <a:spLocks noGrp="1"/>
          </p:cNvSpPr>
          <p:nvPr>
            <p:ph type="title"/>
          </p:nvPr>
        </p:nvSpPr>
        <p:spPr>
          <a:xfrm>
            <a:off x="1165475" y="297649"/>
            <a:ext cx="6858000" cy="860591"/>
          </a:xfrm>
          <a:prstGeom prst="rect">
            <a:avLst/>
          </a:prstGeom>
        </p:spPr>
        <p:txBody>
          <a:bodyPr spcFirstLastPara="1" wrap="square" lIns="91425" tIns="91425" rIns="91425" bIns="91425" anchor="b" anchorCtr="0">
            <a:noAutofit/>
          </a:bodyPr>
          <a:lstStyle/>
          <a:p>
            <a:pPr lvl="0" fontAlgn="base"/>
            <a:r>
              <a:rPr lang="en-IN" sz="3200" b="1" dirty="0"/>
              <a:t>Missing Value Check:</a:t>
            </a:r>
            <a:r>
              <a:rPr lang="en-IN" sz="3200" dirty="0"/>
              <a:t> </a:t>
            </a:r>
            <a:br>
              <a:rPr lang="en-IN" dirty="0"/>
            </a:br>
            <a:r>
              <a:rPr lang="en-IN" dirty="0"/>
              <a:t> </a:t>
            </a:r>
            <a:br>
              <a:rPr lang="en-IN" dirty="0"/>
            </a:br>
            <a:endParaRPr dirty="0"/>
          </a:p>
        </p:txBody>
      </p:sp>
      <p:sp>
        <p:nvSpPr>
          <p:cNvPr id="139" name="Google Shape;139;p20"/>
          <p:cNvSpPr txBox="1">
            <a:spLocks noGrp="1"/>
          </p:cNvSpPr>
          <p:nvPr>
            <p:ph type="body" idx="3"/>
          </p:nvPr>
        </p:nvSpPr>
        <p:spPr>
          <a:xfrm>
            <a:off x="4317357" y="544010"/>
            <a:ext cx="4642055" cy="4301841"/>
          </a:xfrm>
          <a:prstGeom prst="rect">
            <a:avLst/>
          </a:prstGeom>
        </p:spPr>
        <p:txBody>
          <a:bodyPr spcFirstLastPara="1" wrap="square" lIns="91425" tIns="91425" rIns="91425" bIns="91425" anchor="t" anchorCtr="0">
            <a:noAutofit/>
          </a:bodyPr>
          <a:lstStyle/>
          <a:p>
            <a:pPr marL="0" lvl="0" indent="0">
              <a:buNone/>
            </a:pPr>
            <a:r>
              <a:rPr lang="en-US" dirty="0">
                <a:solidFill>
                  <a:schemeClr val="bg1"/>
                </a:solidFill>
              </a:rPr>
              <a:t>The dataset was checked to see if any attributes contained missing values .</a:t>
            </a:r>
          </a:p>
          <a:p>
            <a:pPr marL="0" lvl="0" indent="0">
              <a:buNone/>
            </a:pPr>
            <a:r>
              <a:rPr lang="en-US" dirty="0">
                <a:solidFill>
                  <a:schemeClr val="bg1"/>
                </a:solidFill>
              </a:rPr>
              <a:t>Missing values can create problems during analysis because algorithms may not work correctly when data is incomplete .</a:t>
            </a:r>
          </a:p>
          <a:p>
            <a:pPr marL="0" lvl="0" indent="0">
              <a:buNone/>
            </a:pPr>
            <a:r>
              <a:rPr lang="en-US" dirty="0">
                <a:solidFill>
                  <a:schemeClr val="bg1"/>
                </a:solidFill>
              </a:rPr>
              <a:t>After checking the dataset, no missing values were found </a:t>
            </a:r>
            <a:r>
              <a:rPr lang="en-US" dirty="0"/>
              <a:t>in any attribute .</a:t>
            </a:r>
          </a:p>
          <a:p>
            <a:pPr marL="0" lvl="0" indent="0">
              <a:buNone/>
            </a:pPr>
            <a:r>
              <a:rPr lang="en-US" dirty="0"/>
              <a:t>Since the dataset was complete, no additional steps were required for handling missing data.</a:t>
            </a:r>
            <a:endParaRPr dirty="0"/>
          </a:p>
        </p:txBody>
      </p:sp>
      <p:pic>
        <p:nvPicPr>
          <p:cNvPr id="8" name="Picture 7">
            <a:extLst>
              <a:ext uri="{FF2B5EF4-FFF2-40B4-BE49-F238E27FC236}">
                <a16:creationId xmlns:a16="http://schemas.microsoft.com/office/drawing/2014/main" id="{80C49644-0D48-50C4-4366-8FA71A1BE4F0}"/>
              </a:ext>
            </a:extLst>
          </p:cNvPr>
          <p:cNvPicPr>
            <a:picLocks noChangeAspect="1"/>
          </p:cNvPicPr>
          <p:nvPr/>
        </p:nvPicPr>
        <p:blipFill>
          <a:blip r:embed="rId3"/>
          <a:srcRect t="2464" r="1695" b="4721"/>
          <a:stretch>
            <a:fillRect/>
          </a:stretch>
        </p:blipFill>
        <p:spPr>
          <a:xfrm>
            <a:off x="184588" y="544010"/>
            <a:ext cx="3982298" cy="43018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6" name="Google Shape;146;p21"/>
          <p:cNvSpPr txBox="1">
            <a:spLocks noGrp="1"/>
          </p:cNvSpPr>
          <p:nvPr>
            <p:ph type="title"/>
          </p:nvPr>
        </p:nvSpPr>
        <p:spPr>
          <a:xfrm>
            <a:off x="72144" y="81281"/>
            <a:ext cx="8999713" cy="724631"/>
          </a:xfrm>
          <a:prstGeom prst="rect">
            <a:avLst/>
          </a:prstGeom>
        </p:spPr>
        <p:txBody>
          <a:bodyPr spcFirstLastPara="1" wrap="square" lIns="91425" tIns="91425" rIns="91425" bIns="91425" anchor="b" anchorCtr="0">
            <a:noAutofit/>
          </a:bodyPr>
          <a:lstStyle/>
          <a:p>
            <a:r>
              <a:rPr lang="en-IN" sz="2800" b="1" dirty="0"/>
              <a:t>Normalization:</a:t>
            </a:r>
            <a:br>
              <a:rPr lang="en-IN" dirty="0"/>
            </a:br>
            <a:endParaRPr dirty="0">
              <a:solidFill>
                <a:srgbClr val="39C0BA"/>
              </a:solidFill>
            </a:endParaRPr>
          </a:p>
        </p:txBody>
      </p:sp>
      <p:pic>
        <p:nvPicPr>
          <p:cNvPr id="4" name="Picture 3">
            <a:extLst>
              <a:ext uri="{FF2B5EF4-FFF2-40B4-BE49-F238E27FC236}">
                <a16:creationId xmlns:a16="http://schemas.microsoft.com/office/drawing/2014/main" id="{FD24F6A5-CEF4-E05B-1F8E-8ACF91C6FFB4}"/>
              </a:ext>
            </a:extLst>
          </p:cNvPr>
          <p:cNvPicPr>
            <a:picLocks noChangeAspect="1"/>
          </p:cNvPicPr>
          <p:nvPr/>
        </p:nvPicPr>
        <p:blipFill>
          <a:blip r:embed="rId3"/>
          <a:srcRect b="4957"/>
          <a:stretch>
            <a:fillRect/>
          </a:stretch>
        </p:blipFill>
        <p:spPr>
          <a:xfrm>
            <a:off x="196770" y="532436"/>
            <a:ext cx="4155312" cy="4310784"/>
          </a:xfrm>
          <a:prstGeom prst="rect">
            <a:avLst/>
          </a:prstGeom>
        </p:spPr>
      </p:pic>
      <p:sp>
        <p:nvSpPr>
          <p:cNvPr id="3" name="TextBox 2">
            <a:extLst>
              <a:ext uri="{FF2B5EF4-FFF2-40B4-BE49-F238E27FC236}">
                <a16:creationId xmlns:a16="http://schemas.microsoft.com/office/drawing/2014/main" id="{713DF01E-D131-49D2-6900-ED2CB45E8ACA}"/>
              </a:ext>
            </a:extLst>
          </p:cNvPr>
          <p:cNvSpPr txBox="1"/>
          <p:nvPr/>
        </p:nvSpPr>
        <p:spPr>
          <a:xfrm>
            <a:off x="4411501" y="371147"/>
            <a:ext cx="4600936" cy="4401205"/>
          </a:xfrm>
          <a:prstGeom prst="rect">
            <a:avLst/>
          </a:prstGeom>
          <a:noFill/>
        </p:spPr>
        <p:txBody>
          <a:bodyPr wrap="square">
            <a:spAutoFit/>
          </a:bodyPr>
          <a:lstStyle/>
          <a:p>
            <a:r>
              <a:rPr lang="en-US" sz="2000" dirty="0">
                <a:solidFill>
                  <a:schemeClr val="tx2"/>
                </a:solidFill>
              </a:rPr>
              <a:t>Normalization was applied to convert numeric values into a common range between 0 and 1.</a:t>
            </a:r>
          </a:p>
          <a:p>
            <a:r>
              <a:rPr lang="en-US" sz="2000" dirty="0">
                <a:solidFill>
                  <a:schemeClr val="tx2"/>
                </a:solidFill>
              </a:rPr>
              <a:t>In the dataset, different attributes such as attendance percentage, marks, and CGPA have different value ranges.</a:t>
            </a:r>
          </a:p>
          <a:p>
            <a:r>
              <a:rPr lang="en-US" sz="2000" dirty="0">
                <a:solidFill>
                  <a:schemeClr val="tx2"/>
                </a:solidFill>
              </a:rPr>
              <a:t>If these values are used directly, attributes with larger values may dominate the analysis .</a:t>
            </a:r>
          </a:p>
          <a:p>
            <a:r>
              <a:rPr lang="en-US" sz="2000" dirty="0">
                <a:solidFill>
                  <a:schemeClr val="tx2"/>
                </a:solidFill>
              </a:rPr>
              <a:t>By converting all values into the same range, normalization helps the algorithm treat all attributes equally and improves the quality of the analysis.</a:t>
            </a:r>
            <a:endParaRPr lang="en-IN" sz="2000" dirty="0">
              <a:solidFill>
                <a:schemeClr val="tx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4"/>
          <p:cNvSpPr txBox="1">
            <a:spLocks noGrp="1"/>
          </p:cNvSpPr>
          <p:nvPr>
            <p:ph type="title"/>
          </p:nvPr>
        </p:nvSpPr>
        <p:spPr>
          <a:xfrm>
            <a:off x="173619" y="643181"/>
            <a:ext cx="9071857" cy="643180"/>
          </a:xfrm>
          <a:prstGeom prst="rect">
            <a:avLst/>
          </a:prstGeom>
        </p:spPr>
        <p:txBody>
          <a:bodyPr spcFirstLastPara="1" wrap="square" lIns="91425" tIns="91425" rIns="91425" bIns="91425" anchor="b" anchorCtr="0">
            <a:noAutofit/>
          </a:bodyPr>
          <a:lstStyle/>
          <a:p>
            <a:r>
              <a:rPr lang="en-IN" sz="2800" b="1" dirty="0"/>
              <a:t>Standardization  :</a:t>
            </a:r>
            <a:r>
              <a:rPr lang="en-IN" sz="2800" dirty="0">
                <a:solidFill>
                  <a:schemeClr val="bg1"/>
                </a:solidFill>
              </a:rPr>
              <a:t> </a:t>
            </a:r>
            <a:br>
              <a:rPr lang="en-IN" sz="2800" dirty="0"/>
            </a:br>
            <a:r>
              <a:rPr lang="en-IN" sz="2800" dirty="0"/>
              <a:t> </a:t>
            </a:r>
            <a:br>
              <a:rPr lang="en-IN" dirty="0"/>
            </a:br>
            <a:endParaRPr dirty="0"/>
          </a:p>
        </p:txBody>
      </p:sp>
      <p:pic>
        <p:nvPicPr>
          <p:cNvPr id="6" name="Picture 5">
            <a:extLst>
              <a:ext uri="{FF2B5EF4-FFF2-40B4-BE49-F238E27FC236}">
                <a16:creationId xmlns:a16="http://schemas.microsoft.com/office/drawing/2014/main" id="{6C009470-4772-BCB7-6717-A26476ACCED3}"/>
              </a:ext>
            </a:extLst>
          </p:cNvPr>
          <p:cNvPicPr>
            <a:picLocks noChangeAspect="1"/>
          </p:cNvPicPr>
          <p:nvPr/>
        </p:nvPicPr>
        <p:blipFill>
          <a:blip r:embed="rId3"/>
          <a:stretch>
            <a:fillRect/>
          </a:stretch>
        </p:blipFill>
        <p:spPr>
          <a:xfrm>
            <a:off x="340963" y="509286"/>
            <a:ext cx="4068991" cy="4310687"/>
          </a:xfrm>
          <a:prstGeom prst="rect">
            <a:avLst/>
          </a:prstGeom>
        </p:spPr>
      </p:pic>
      <p:sp>
        <p:nvSpPr>
          <p:cNvPr id="3" name="TextBox 2">
            <a:extLst>
              <a:ext uri="{FF2B5EF4-FFF2-40B4-BE49-F238E27FC236}">
                <a16:creationId xmlns:a16="http://schemas.microsoft.com/office/drawing/2014/main" id="{7D0ACBA9-8921-383B-114C-BD7708ECEE87}"/>
              </a:ext>
            </a:extLst>
          </p:cNvPr>
          <p:cNvSpPr txBox="1"/>
          <p:nvPr/>
        </p:nvSpPr>
        <p:spPr>
          <a:xfrm>
            <a:off x="4515672" y="356305"/>
            <a:ext cx="4624086" cy="4616648"/>
          </a:xfrm>
          <a:prstGeom prst="rect">
            <a:avLst/>
          </a:prstGeom>
          <a:noFill/>
        </p:spPr>
        <p:txBody>
          <a:bodyPr wrap="square">
            <a:spAutoFit/>
          </a:bodyPr>
          <a:lstStyle/>
          <a:p>
            <a:r>
              <a:rPr lang="en-US" sz="2100" dirty="0">
                <a:solidFill>
                  <a:schemeClr val="tx2"/>
                </a:solidFill>
              </a:rPr>
              <a:t>Standardization was applied to transform the data so that it has a mean value of 0 and a standard deviation of 1.</a:t>
            </a:r>
          </a:p>
          <a:p>
            <a:r>
              <a:rPr lang="en-US" sz="2100" dirty="0">
                <a:solidFill>
                  <a:schemeClr val="tx2"/>
                </a:solidFill>
              </a:rPr>
              <a:t>This transformation helps bring the data to a balanced distribution .</a:t>
            </a:r>
          </a:p>
          <a:p>
            <a:r>
              <a:rPr lang="en-US" sz="2100" dirty="0">
                <a:solidFill>
                  <a:schemeClr val="tx2"/>
                </a:solidFill>
              </a:rPr>
              <a:t>Standardization is useful for machine learning algorithms because it reduces the effect of large variations in the data and improves model performance .</a:t>
            </a:r>
          </a:p>
          <a:p>
            <a:r>
              <a:rPr lang="en-US" sz="2100" dirty="0">
                <a:solidFill>
                  <a:schemeClr val="tx2"/>
                </a:solidFill>
              </a:rPr>
              <a:t>By applying standardization, the dataset becomes more consistent for analysis.</a:t>
            </a:r>
            <a:endParaRPr lang="en-IN" sz="2100" dirty="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3"/>
          <p:cNvSpPr txBox="1">
            <a:spLocks noGrp="1"/>
          </p:cNvSpPr>
          <p:nvPr>
            <p:ph type="title"/>
          </p:nvPr>
        </p:nvSpPr>
        <p:spPr>
          <a:xfrm>
            <a:off x="-147965" y="-157611"/>
            <a:ext cx="9127012" cy="1162107"/>
          </a:xfrm>
          <a:prstGeom prst="rect">
            <a:avLst/>
          </a:prstGeom>
        </p:spPr>
        <p:txBody>
          <a:bodyPr spcFirstLastPara="1" wrap="square" lIns="91425" tIns="91425" rIns="91425" bIns="91425" anchor="b" anchorCtr="0">
            <a:noAutofit/>
          </a:bodyPr>
          <a:lstStyle/>
          <a:p>
            <a:pPr lvl="1" fontAlgn="base"/>
            <a:r>
              <a:rPr lang="en-IN" b="1" dirty="0"/>
              <a:t>   Classification :</a:t>
            </a:r>
            <a:endParaRPr dirty="0"/>
          </a:p>
        </p:txBody>
      </p:sp>
      <p:sp>
        <p:nvSpPr>
          <p:cNvPr id="161" name="Google Shape;161;p23"/>
          <p:cNvSpPr/>
          <p:nvPr/>
        </p:nvSpPr>
        <p:spPr>
          <a:xfrm>
            <a:off x="1369925" y="1631925"/>
            <a:ext cx="2290800" cy="2273400"/>
          </a:xfrm>
          <a:prstGeom prst="ellipse">
            <a:avLst/>
          </a:prstGeom>
          <a:noFill/>
          <a:ln w="9525"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latin typeface="Quicksand"/>
                <a:ea typeface="Quicksand"/>
                <a:cs typeface="Quicksand"/>
                <a:sym typeface="Quicksand"/>
              </a:rPr>
              <a:t>White</a:t>
            </a:r>
            <a:endParaRPr dirty="0">
              <a:solidFill>
                <a:schemeClr val="accent1"/>
              </a:solidFill>
              <a:latin typeface="Quicksand"/>
              <a:ea typeface="Quicksand"/>
              <a:cs typeface="Quicksand"/>
              <a:sym typeface="Quicksand"/>
            </a:endParaRPr>
          </a:p>
        </p:txBody>
      </p:sp>
      <p:sp>
        <p:nvSpPr>
          <p:cNvPr id="163" name="Google Shape;163;p23"/>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14</a:t>
            </a:fld>
            <a:endParaRPr/>
          </a:p>
        </p:txBody>
      </p:sp>
      <p:sp>
        <p:nvSpPr>
          <p:cNvPr id="4" name="TextBox 3">
            <a:extLst>
              <a:ext uri="{FF2B5EF4-FFF2-40B4-BE49-F238E27FC236}">
                <a16:creationId xmlns:a16="http://schemas.microsoft.com/office/drawing/2014/main" id="{1CACB9DF-0B53-8EC1-8B90-3747898B895B}"/>
              </a:ext>
            </a:extLst>
          </p:cNvPr>
          <p:cNvSpPr txBox="1"/>
          <p:nvPr/>
        </p:nvSpPr>
        <p:spPr>
          <a:xfrm>
            <a:off x="4415541" y="76069"/>
            <a:ext cx="4790440" cy="5124480"/>
          </a:xfrm>
          <a:prstGeom prst="rect">
            <a:avLst/>
          </a:prstGeom>
          <a:noFill/>
        </p:spPr>
        <p:txBody>
          <a:bodyPr wrap="square">
            <a:spAutoFit/>
          </a:bodyPr>
          <a:lstStyle/>
          <a:p>
            <a:pPr lvl="1" fontAlgn="base"/>
            <a:r>
              <a:rPr lang="en-IN" sz="2500" b="1" kern="100" dirty="0">
                <a:solidFill>
                  <a:schemeClr val="accent2">
                    <a:lumMod val="75000"/>
                  </a:schemeClr>
                </a:solidFill>
                <a:latin typeface="Calibri" panose="020F0502020204030204" pitchFamily="34" charset="0"/>
                <a:ea typeface="Calibri" panose="020F0502020204030204" pitchFamily="34" charset="0"/>
              </a:rPr>
              <a:t>Classification :</a:t>
            </a:r>
            <a:r>
              <a:rPr lang="en-US" sz="2500" b="1" kern="100" dirty="0">
                <a:solidFill>
                  <a:schemeClr val="accent2">
                    <a:lumMod val="75000"/>
                  </a:schemeClr>
                </a:solidFill>
                <a:latin typeface="Calibri" panose="020F0502020204030204" pitchFamily="34" charset="0"/>
                <a:ea typeface="Calibri" panose="020F0502020204030204" pitchFamily="34" charset="0"/>
              </a:rPr>
              <a:t> </a:t>
            </a:r>
            <a:r>
              <a:rPr lang="en-US" sz="1800" kern="100" dirty="0">
                <a:solidFill>
                  <a:schemeClr val="bg1"/>
                </a:solidFill>
                <a:latin typeface="Calibri" panose="020F0502020204030204" pitchFamily="34" charset="0"/>
                <a:ea typeface="Calibri" panose="020F0502020204030204" pitchFamily="34" charset="0"/>
              </a:rPr>
              <a:t>Classification predicts categories of data . In this project, student performance is classified as Average, Poor, or Good using Internal Marks and Attendance.</a:t>
            </a:r>
          </a:p>
          <a:p>
            <a:pPr lvl="1" fontAlgn="base"/>
            <a:r>
              <a:rPr lang="en-IN" sz="2500" b="1" kern="100" dirty="0">
                <a:solidFill>
                  <a:schemeClr val="accent2">
                    <a:lumMod val="75000"/>
                  </a:schemeClr>
                </a:solidFill>
                <a:latin typeface="Calibri" panose="020F0502020204030204" pitchFamily="34" charset="0"/>
                <a:ea typeface="Calibri" panose="020F0502020204030204" pitchFamily="34" charset="0"/>
              </a:rPr>
              <a:t>Confusion Matrix:</a:t>
            </a:r>
          </a:p>
          <a:p>
            <a:pPr lvl="1" fontAlgn="base"/>
            <a:r>
              <a:rPr lang="en-US" sz="1800" kern="100" dirty="0">
                <a:solidFill>
                  <a:schemeClr val="bg1"/>
                </a:solidFill>
                <a:latin typeface="Calibri" panose="020F0502020204030204" pitchFamily="34" charset="0"/>
                <a:ea typeface="Calibri" panose="020F0502020204030204" pitchFamily="34" charset="0"/>
              </a:rPr>
              <a:t>A confusion matrix evaluates a classification model by comparing actual values with predicted values.</a:t>
            </a:r>
          </a:p>
          <a:p>
            <a:pPr lvl="1" fontAlgn="base"/>
            <a:r>
              <a:rPr lang="en-US" sz="1800" b="1" kern="100" dirty="0">
                <a:solidFill>
                  <a:schemeClr val="bg1"/>
                </a:solidFill>
                <a:latin typeface="Calibri" panose="020F0502020204030204" pitchFamily="34" charset="0"/>
                <a:ea typeface="Calibri" panose="020F0502020204030204" pitchFamily="34" charset="0"/>
              </a:rPr>
              <a:t>TP: </a:t>
            </a:r>
            <a:r>
              <a:rPr lang="en-US" sz="1800" kern="100" dirty="0">
                <a:solidFill>
                  <a:schemeClr val="bg1"/>
                </a:solidFill>
                <a:latin typeface="Calibri" panose="020F0502020204030204" pitchFamily="34" charset="0"/>
                <a:ea typeface="Calibri" panose="020F0502020204030204" pitchFamily="34" charset="0"/>
              </a:rPr>
              <a:t>Correctly predicted instances</a:t>
            </a:r>
          </a:p>
          <a:p>
            <a:pPr lvl="1" fontAlgn="base"/>
            <a:r>
              <a:rPr lang="en-US" sz="1800" b="1" kern="100" dirty="0">
                <a:solidFill>
                  <a:schemeClr val="bg1"/>
                </a:solidFill>
                <a:latin typeface="Calibri" panose="020F0502020204030204" pitchFamily="34" charset="0"/>
                <a:ea typeface="Calibri" panose="020F0502020204030204" pitchFamily="34" charset="0"/>
              </a:rPr>
              <a:t>FP: </a:t>
            </a:r>
            <a:r>
              <a:rPr lang="en-US" sz="1800" kern="100" dirty="0">
                <a:solidFill>
                  <a:schemeClr val="bg1"/>
                </a:solidFill>
                <a:latin typeface="Calibri" panose="020F0502020204030204" pitchFamily="34" charset="0"/>
                <a:ea typeface="Calibri" panose="020F0502020204030204" pitchFamily="34" charset="0"/>
              </a:rPr>
              <a:t>Incorrectly predicted as that class</a:t>
            </a:r>
          </a:p>
          <a:p>
            <a:pPr lvl="1" fontAlgn="base"/>
            <a:r>
              <a:rPr lang="en-US" sz="1800" b="1" kern="100" dirty="0">
                <a:solidFill>
                  <a:schemeClr val="bg1"/>
                </a:solidFill>
                <a:latin typeface="Calibri" panose="020F0502020204030204" pitchFamily="34" charset="0"/>
                <a:ea typeface="Calibri" panose="020F0502020204030204" pitchFamily="34" charset="0"/>
              </a:rPr>
              <a:t>FN: </a:t>
            </a:r>
            <a:r>
              <a:rPr lang="en-US" sz="1800" kern="100" dirty="0">
                <a:solidFill>
                  <a:schemeClr val="bg1"/>
                </a:solidFill>
                <a:latin typeface="Calibri" panose="020F0502020204030204" pitchFamily="34" charset="0"/>
                <a:ea typeface="Calibri" panose="020F0502020204030204" pitchFamily="34" charset="0"/>
              </a:rPr>
              <a:t>Actual instances predicted as another class</a:t>
            </a:r>
          </a:p>
          <a:p>
            <a:pPr lvl="1" fontAlgn="base"/>
            <a:r>
              <a:rPr lang="en-US" sz="1800" b="1" kern="100" dirty="0">
                <a:solidFill>
                  <a:schemeClr val="bg1"/>
                </a:solidFill>
                <a:latin typeface="Calibri" panose="020F0502020204030204" pitchFamily="34" charset="0"/>
                <a:ea typeface="Calibri" panose="020F0502020204030204" pitchFamily="34" charset="0"/>
              </a:rPr>
              <a:t>TN: </a:t>
            </a:r>
            <a:r>
              <a:rPr lang="en-US" sz="1800" kern="100" dirty="0">
                <a:solidFill>
                  <a:schemeClr val="bg1"/>
                </a:solidFill>
                <a:latin typeface="Calibri" panose="020F0502020204030204" pitchFamily="34" charset="0"/>
                <a:ea typeface="Calibri" panose="020F0502020204030204" pitchFamily="34" charset="0"/>
              </a:rPr>
              <a:t>Correctly predicted as not belonging to that class</a:t>
            </a:r>
          </a:p>
          <a:p>
            <a:pPr lvl="1" fontAlgn="base"/>
            <a:r>
              <a:rPr lang="en-US" sz="2500" b="1" kern="100" dirty="0">
                <a:solidFill>
                  <a:schemeClr val="accent2">
                    <a:lumMod val="75000"/>
                  </a:schemeClr>
                </a:solidFill>
                <a:latin typeface="Calibri" panose="020F0502020204030204" pitchFamily="34" charset="0"/>
                <a:ea typeface="Calibri" panose="020F0502020204030204" pitchFamily="34" charset="0"/>
              </a:rPr>
              <a:t>Result from Analysis</a:t>
            </a:r>
          </a:p>
          <a:p>
            <a:pPr lvl="1" fontAlgn="base"/>
            <a:r>
              <a:rPr lang="en-US" sz="1800" kern="100" dirty="0">
                <a:solidFill>
                  <a:schemeClr val="bg1"/>
                </a:solidFill>
                <a:latin typeface="Calibri" panose="020F0502020204030204" pitchFamily="34" charset="0"/>
                <a:ea typeface="Calibri" panose="020F0502020204030204" pitchFamily="34" charset="0"/>
              </a:rPr>
              <a:t>Correct predictions: 1139 Average, 650 Poor, 204 Good</a:t>
            </a:r>
          </a:p>
          <a:p>
            <a:pPr lvl="1" fontAlgn="base"/>
            <a:r>
              <a:rPr lang="en-US" sz="1800" kern="100" dirty="0">
                <a:solidFill>
                  <a:schemeClr val="bg1"/>
                </a:solidFill>
                <a:latin typeface="Calibri" panose="020F0502020204030204" pitchFamily="34" charset="0"/>
                <a:ea typeface="Calibri" panose="020F0502020204030204" pitchFamily="34" charset="0"/>
              </a:rPr>
              <a:t>Model Accuracy: 79.72%                                       </a:t>
            </a:r>
            <a:endParaRPr lang="en-IN" sz="1800" kern="100" dirty="0">
              <a:solidFill>
                <a:schemeClr val="bg1"/>
              </a:solidFill>
              <a:latin typeface="Calibri" panose="020F0502020204030204" pitchFamily="34" charset="0"/>
              <a:ea typeface="Calibri" panose="020F0502020204030204" pitchFamily="34" charset="0"/>
            </a:endParaRPr>
          </a:p>
        </p:txBody>
      </p:sp>
      <p:pic>
        <p:nvPicPr>
          <p:cNvPr id="5" name="Picture 4">
            <a:extLst>
              <a:ext uri="{FF2B5EF4-FFF2-40B4-BE49-F238E27FC236}">
                <a16:creationId xmlns:a16="http://schemas.microsoft.com/office/drawing/2014/main" id="{F16289E0-C7E0-1B98-B752-FB056B6B7DC3}"/>
              </a:ext>
            </a:extLst>
          </p:cNvPr>
          <p:cNvPicPr>
            <a:picLocks noChangeAspect="1"/>
          </p:cNvPicPr>
          <p:nvPr/>
        </p:nvPicPr>
        <p:blipFill>
          <a:blip r:embed="rId3"/>
          <a:stretch>
            <a:fillRect/>
          </a:stretch>
        </p:blipFill>
        <p:spPr>
          <a:xfrm>
            <a:off x="72143" y="76069"/>
            <a:ext cx="4343398" cy="50674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D550CEF-B491-02D1-59F5-63DF90DCDE2C}"/>
            </a:ext>
          </a:extLst>
        </p:cNvPr>
        <p:cNvGrpSpPr/>
        <p:nvPr/>
      </p:nvGrpSpPr>
      <p:grpSpPr>
        <a:xfrm>
          <a:off x="0" y="0"/>
          <a:ext cx="0" cy="0"/>
          <a:chOff x="0" y="0"/>
          <a:chExt cx="0" cy="0"/>
        </a:xfrm>
      </p:grpSpPr>
      <p:sp>
        <p:nvSpPr>
          <p:cNvPr id="159" name="Google Shape;159;p23">
            <a:extLst>
              <a:ext uri="{FF2B5EF4-FFF2-40B4-BE49-F238E27FC236}">
                <a16:creationId xmlns:a16="http://schemas.microsoft.com/office/drawing/2014/main" id="{3BB1A5CF-30D7-DBFF-7ED9-F6D754AE13F5}"/>
              </a:ext>
            </a:extLst>
          </p:cNvPr>
          <p:cNvSpPr txBox="1">
            <a:spLocks noGrp="1"/>
          </p:cNvSpPr>
          <p:nvPr>
            <p:ph type="title"/>
          </p:nvPr>
        </p:nvSpPr>
        <p:spPr>
          <a:xfrm>
            <a:off x="78969" y="-88406"/>
            <a:ext cx="9127012" cy="583422"/>
          </a:xfrm>
          <a:prstGeom prst="rect">
            <a:avLst/>
          </a:prstGeom>
        </p:spPr>
        <p:txBody>
          <a:bodyPr spcFirstLastPara="1" wrap="square" lIns="91425" tIns="91425" rIns="91425" bIns="91425" anchor="b" anchorCtr="0">
            <a:noAutofit/>
          </a:bodyPr>
          <a:lstStyle/>
          <a:p>
            <a:r>
              <a:rPr lang="en-US" sz="2400" b="1" dirty="0"/>
              <a:t>Student Performance Classification using Decision Tree:</a:t>
            </a:r>
            <a:endParaRPr sz="2400" b="1" dirty="0"/>
          </a:p>
        </p:txBody>
      </p:sp>
      <p:pic>
        <p:nvPicPr>
          <p:cNvPr id="5" name="Picture 4">
            <a:extLst>
              <a:ext uri="{FF2B5EF4-FFF2-40B4-BE49-F238E27FC236}">
                <a16:creationId xmlns:a16="http://schemas.microsoft.com/office/drawing/2014/main" id="{5FB19A11-1B51-9902-0E5D-81BE0A736D2E}"/>
              </a:ext>
            </a:extLst>
          </p:cNvPr>
          <p:cNvPicPr>
            <a:picLocks noChangeAspect="1"/>
          </p:cNvPicPr>
          <p:nvPr/>
        </p:nvPicPr>
        <p:blipFill>
          <a:blip r:embed="rId3"/>
          <a:srcRect t="16231"/>
          <a:stretch>
            <a:fillRect/>
          </a:stretch>
        </p:blipFill>
        <p:spPr>
          <a:xfrm>
            <a:off x="233756" y="495015"/>
            <a:ext cx="8676488" cy="4413869"/>
          </a:xfrm>
          <a:prstGeom prst="rect">
            <a:avLst/>
          </a:prstGeom>
        </p:spPr>
      </p:pic>
    </p:spTree>
    <p:extLst>
      <p:ext uri="{BB962C8B-B14F-4D97-AF65-F5344CB8AC3E}">
        <p14:creationId xmlns:p14="http://schemas.microsoft.com/office/powerpoint/2010/main" val="2251331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94D5AB0-F9BC-908D-8797-98D7099A4551}"/>
            </a:ext>
          </a:extLst>
        </p:cNvPr>
        <p:cNvGrpSpPr/>
        <p:nvPr/>
      </p:nvGrpSpPr>
      <p:grpSpPr>
        <a:xfrm>
          <a:off x="0" y="0"/>
          <a:ext cx="0" cy="0"/>
          <a:chOff x="0" y="0"/>
          <a:chExt cx="0" cy="0"/>
        </a:xfrm>
      </p:grpSpPr>
      <p:sp>
        <p:nvSpPr>
          <p:cNvPr id="159" name="Google Shape;159;p23">
            <a:extLst>
              <a:ext uri="{FF2B5EF4-FFF2-40B4-BE49-F238E27FC236}">
                <a16:creationId xmlns:a16="http://schemas.microsoft.com/office/drawing/2014/main" id="{914242F4-EB8C-15C2-2384-5A12077F3E5A}"/>
              </a:ext>
            </a:extLst>
          </p:cNvPr>
          <p:cNvSpPr txBox="1">
            <a:spLocks noGrp="1"/>
          </p:cNvSpPr>
          <p:nvPr>
            <p:ph type="title"/>
          </p:nvPr>
        </p:nvSpPr>
        <p:spPr>
          <a:xfrm>
            <a:off x="78969" y="-88407"/>
            <a:ext cx="9127012" cy="1307607"/>
          </a:xfrm>
          <a:prstGeom prst="rect">
            <a:avLst/>
          </a:prstGeom>
        </p:spPr>
        <p:txBody>
          <a:bodyPr spcFirstLastPara="1" wrap="square" lIns="91425" tIns="91425" rIns="91425" bIns="91425" anchor="b" anchorCtr="0">
            <a:noAutofit/>
          </a:bodyPr>
          <a:lstStyle/>
          <a:p>
            <a:r>
              <a:rPr lang="en-IN" b="1" dirty="0"/>
              <a:t>   Clustering (Simple K-Means) :</a:t>
            </a:r>
            <a:br>
              <a:rPr lang="en-IN" dirty="0"/>
            </a:br>
            <a:br>
              <a:rPr lang="en-IN" dirty="0"/>
            </a:br>
            <a:br>
              <a:rPr lang="en-IN" dirty="0"/>
            </a:br>
            <a:endParaRPr dirty="0"/>
          </a:p>
        </p:txBody>
      </p:sp>
      <p:sp>
        <p:nvSpPr>
          <p:cNvPr id="4" name="TextBox 3">
            <a:extLst>
              <a:ext uri="{FF2B5EF4-FFF2-40B4-BE49-F238E27FC236}">
                <a16:creationId xmlns:a16="http://schemas.microsoft.com/office/drawing/2014/main" id="{D6245126-7A06-2AB8-6C84-204D0EB7C776}"/>
              </a:ext>
            </a:extLst>
          </p:cNvPr>
          <p:cNvSpPr txBox="1"/>
          <p:nvPr/>
        </p:nvSpPr>
        <p:spPr>
          <a:xfrm>
            <a:off x="4571999" y="246375"/>
            <a:ext cx="4633981" cy="4708981"/>
          </a:xfrm>
          <a:prstGeom prst="rect">
            <a:avLst/>
          </a:prstGeom>
          <a:noFill/>
        </p:spPr>
        <p:txBody>
          <a:bodyPr wrap="square">
            <a:spAutoFit/>
          </a:bodyPr>
          <a:lstStyle/>
          <a:p>
            <a:pPr lvl="1" fontAlgn="base"/>
            <a:r>
              <a:rPr lang="en-US" sz="2000" kern="100" dirty="0">
                <a:solidFill>
                  <a:schemeClr val="bg1"/>
                </a:solidFill>
                <a:latin typeface="Calibri" panose="020F0502020204030204" pitchFamily="34" charset="0"/>
                <a:ea typeface="Calibri" panose="020F0502020204030204" pitchFamily="34" charset="0"/>
              </a:rPr>
              <a:t>Clustering is a data mining technique used to group similar data objects together and it is an unsupervised learning method. Clustering is performed to identify patterns and group students based on their academic performance . </a:t>
            </a:r>
          </a:p>
          <a:p>
            <a:pPr lvl="1" fontAlgn="base"/>
            <a:r>
              <a:rPr lang="en-US" sz="2000" kern="100" dirty="0">
                <a:solidFill>
                  <a:schemeClr val="bg1"/>
                </a:solidFill>
                <a:latin typeface="Calibri" panose="020F0502020204030204" pitchFamily="34" charset="0"/>
                <a:ea typeface="Calibri" panose="020F0502020204030204" pitchFamily="34" charset="0"/>
              </a:rPr>
              <a:t>◽</a:t>
            </a:r>
            <a:r>
              <a:rPr lang="en-US" sz="2000" b="1" kern="100" dirty="0">
                <a:solidFill>
                  <a:schemeClr val="bg1"/>
                </a:solidFill>
                <a:latin typeface="Calibri" panose="020F0502020204030204" pitchFamily="34" charset="0"/>
                <a:ea typeface="Calibri" panose="020F0502020204030204" pitchFamily="34" charset="0"/>
              </a:rPr>
              <a:t>Total Instances: </a:t>
            </a:r>
            <a:r>
              <a:rPr lang="en-US" sz="2000" kern="100" dirty="0">
                <a:solidFill>
                  <a:schemeClr val="bg1"/>
                </a:solidFill>
                <a:latin typeface="Calibri" panose="020F0502020204030204" pitchFamily="34" charset="0"/>
                <a:ea typeface="Calibri" panose="020F0502020204030204" pitchFamily="34" charset="0"/>
              </a:rPr>
              <a:t>2500</a:t>
            </a:r>
          </a:p>
          <a:p>
            <a:pPr lvl="1" fontAlgn="base"/>
            <a:r>
              <a:rPr lang="en-US" sz="2000" kern="100" dirty="0">
                <a:solidFill>
                  <a:schemeClr val="bg1"/>
                </a:solidFill>
                <a:latin typeface="Calibri" panose="020F0502020204030204" pitchFamily="34" charset="0"/>
                <a:ea typeface="Calibri" panose="020F0502020204030204" pitchFamily="34" charset="0"/>
              </a:rPr>
              <a:t>◽ </a:t>
            </a:r>
            <a:r>
              <a:rPr lang="en-US" sz="2000" b="1" kern="100" dirty="0">
                <a:solidFill>
                  <a:schemeClr val="bg1"/>
                </a:solidFill>
                <a:latin typeface="Calibri" panose="020F0502020204030204" pitchFamily="34" charset="0"/>
                <a:ea typeface="Calibri" panose="020F0502020204030204" pitchFamily="34" charset="0"/>
              </a:rPr>
              <a:t>Number of Clusters</a:t>
            </a:r>
            <a:r>
              <a:rPr lang="en-US" sz="2000" kern="100" dirty="0">
                <a:solidFill>
                  <a:schemeClr val="bg1"/>
                </a:solidFill>
                <a:latin typeface="Calibri" panose="020F0502020204030204" pitchFamily="34" charset="0"/>
                <a:ea typeface="Calibri" panose="020F0502020204030204" pitchFamily="34" charset="0"/>
              </a:rPr>
              <a:t>: 2</a:t>
            </a:r>
          </a:p>
          <a:p>
            <a:pPr lvl="1" fontAlgn="base"/>
            <a:r>
              <a:rPr lang="en-US" sz="2000" kern="100" dirty="0">
                <a:solidFill>
                  <a:schemeClr val="bg1"/>
                </a:solidFill>
                <a:latin typeface="Calibri" panose="020F0502020204030204" pitchFamily="34" charset="0"/>
                <a:ea typeface="Calibri" panose="020F0502020204030204" pitchFamily="34" charset="0"/>
              </a:rPr>
              <a:t>◽ Iter</a:t>
            </a:r>
            <a:r>
              <a:rPr lang="en-US" sz="2000" b="1" kern="100" dirty="0">
                <a:solidFill>
                  <a:schemeClr val="bg1"/>
                </a:solidFill>
                <a:latin typeface="Calibri" panose="020F0502020204030204" pitchFamily="34" charset="0"/>
                <a:ea typeface="Calibri" panose="020F0502020204030204" pitchFamily="34" charset="0"/>
              </a:rPr>
              <a:t>ations: </a:t>
            </a:r>
            <a:r>
              <a:rPr lang="en-US" sz="2000" kern="100" dirty="0">
                <a:solidFill>
                  <a:schemeClr val="bg1"/>
                </a:solidFill>
                <a:latin typeface="Calibri" panose="020F0502020204030204" pitchFamily="34" charset="0"/>
                <a:ea typeface="Calibri" panose="020F0502020204030204" pitchFamily="34" charset="0"/>
              </a:rPr>
              <a:t>8</a:t>
            </a:r>
          </a:p>
          <a:p>
            <a:pPr lvl="1" fontAlgn="base"/>
            <a:r>
              <a:rPr lang="en-US" sz="2000" kern="100" dirty="0">
                <a:solidFill>
                  <a:schemeClr val="bg1"/>
                </a:solidFill>
                <a:latin typeface="Calibri" panose="020F0502020204030204" pitchFamily="34" charset="0"/>
                <a:ea typeface="Calibri" panose="020F0502020204030204" pitchFamily="34" charset="0"/>
              </a:rPr>
              <a:t>◽</a:t>
            </a:r>
            <a:r>
              <a:rPr lang="en-US" sz="2000" b="1" kern="100" dirty="0">
                <a:solidFill>
                  <a:schemeClr val="bg1"/>
                </a:solidFill>
                <a:latin typeface="Calibri" panose="020F0502020204030204" pitchFamily="34" charset="0"/>
                <a:ea typeface="Calibri" panose="020F0502020204030204" pitchFamily="34" charset="0"/>
              </a:rPr>
              <a:t> Cluster 0: </a:t>
            </a:r>
            <a:r>
              <a:rPr lang="en-US" sz="2000" kern="100" dirty="0">
                <a:solidFill>
                  <a:schemeClr val="bg1"/>
                </a:solidFill>
                <a:latin typeface="Calibri" panose="020F0502020204030204" pitchFamily="34" charset="0"/>
                <a:ea typeface="Calibri" panose="020F0502020204030204" pitchFamily="34" charset="0"/>
              </a:rPr>
              <a:t>1417 students (57%) – Average performance</a:t>
            </a:r>
          </a:p>
          <a:p>
            <a:pPr lvl="1" fontAlgn="base"/>
            <a:r>
              <a:rPr lang="en-US" sz="2000" kern="100" dirty="0">
                <a:solidFill>
                  <a:schemeClr val="bg1"/>
                </a:solidFill>
                <a:latin typeface="Calibri" panose="020F0502020204030204" pitchFamily="34" charset="0"/>
                <a:ea typeface="Calibri" panose="020F0502020204030204" pitchFamily="34" charset="0"/>
              </a:rPr>
              <a:t>◽ </a:t>
            </a:r>
            <a:r>
              <a:rPr lang="en-US" sz="2000" b="1" kern="100" dirty="0">
                <a:solidFill>
                  <a:schemeClr val="bg1"/>
                </a:solidFill>
                <a:latin typeface="Calibri" panose="020F0502020204030204" pitchFamily="34" charset="0"/>
                <a:ea typeface="Calibri" panose="020F0502020204030204" pitchFamily="34" charset="0"/>
              </a:rPr>
              <a:t>Cluster 1: </a:t>
            </a:r>
            <a:r>
              <a:rPr lang="en-US" sz="2000" kern="100" dirty="0">
                <a:solidFill>
                  <a:schemeClr val="bg1"/>
                </a:solidFill>
                <a:latin typeface="Calibri" panose="020F0502020204030204" pitchFamily="34" charset="0"/>
                <a:ea typeface="Calibri" panose="020F0502020204030204" pitchFamily="34" charset="0"/>
              </a:rPr>
              <a:t>1083 students (43%) – Poor performance</a:t>
            </a:r>
          </a:p>
          <a:p>
            <a:pPr lvl="1" fontAlgn="base"/>
            <a:r>
              <a:rPr lang="en-US" sz="2000" kern="100" dirty="0">
                <a:solidFill>
                  <a:schemeClr val="bg1"/>
                </a:solidFill>
                <a:latin typeface="Calibri" panose="020F0502020204030204" pitchFamily="34" charset="0"/>
                <a:ea typeface="Calibri" panose="020F0502020204030204" pitchFamily="34" charset="0"/>
              </a:rPr>
              <a:t>◽ </a:t>
            </a:r>
            <a:r>
              <a:rPr lang="en-US" sz="2000" b="1" kern="100" dirty="0">
                <a:solidFill>
                  <a:schemeClr val="bg1"/>
                </a:solidFill>
                <a:latin typeface="Calibri" panose="020F0502020204030204" pitchFamily="34" charset="0"/>
                <a:ea typeface="Calibri" panose="020F0502020204030204" pitchFamily="34" charset="0"/>
              </a:rPr>
              <a:t>Attributes used: </a:t>
            </a:r>
            <a:r>
              <a:rPr lang="en-US" sz="2000" kern="100" dirty="0">
                <a:solidFill>
                  <a:schemeClr val="bg1"/>
                </a:solidFill>
                <a:latin typeface="Calibri" panose="020F0502020204030204" pitchFamily="34" charset="0"/>
                <a:ea typeface="Calibri" panose="020F0502020204030204" pitchFamily="34" charset="0"/>
              </a:rPr>
              <a:t>Attendance, Internal Marks, Final Exam Marks, CGPA</a:t>
            </a:r>
            <a:endParaRPr lang="en-IN" sz="2000" kern="100" dirty="0">
              <a:solidFill>
                <a:schemeClr val="bg1"/>
              </a:solidFill>
              <a:effectLst/>
              <a:latin typeface="Calibri" panose="020F0502020204030204" pitchFamily="34" charset="0"/>
              <a:ea typeface="Calibri" panose="020F0502020204030204" pitchFamily="34" charset="0"/>
            </a:endParaRPr>
          </a:p>
        </p:txBody>
      </p:sp>
      <p:pic>
        <p:nvPicPr>
          <p:cNvPr id="5" name="Picture 4">
            <a:extLst>
              <a:ext uri="{FF2B5EF4-FFF2-40B4-BE49-F238E27FC236}">
                <a16:creationId xmlns:a16="http://schemas.microsoft.com/office/drawing/2014/main" id="{87FEB5A3-53F8-17A5-A635-4616A1E1AE75}"/>
              </a:ext>
            </a:extLst>
          </p:cNvPr>
          <p:cNvPicPr>
            <a:picLocks noChangeAspect="1"/>
          </p:cNvPicPr>
          <p:nvPr/>
        </p:nvPicPr>
        <p:blipFill>
          <a:blip r:embed="rId3"/>
          <a:stretch>
            <a:fillRect/>
          </a:stretch>
        </p:blipFill>
        <p:spPr>
          <a:xfrm>
            <a:off x="130628" y="381966"/>
            <a:ext cx="4360091" cy="4513168"/>
          </a:xfrm>
          <a:prstGeom prst="rect">
            <a:avLst/>
          </a:prstGeom>
        </p:spPr>
      </p:pic>
    </p:spTree>
    <p:extLst>
      <p:ext uri="{BB962C8B-B14F-4D97-AF65-F5344CB8AC3E}">
        <p14:creationId xmlns:p14="http://schemas.microsoft.com/office/powerpoint/2010/main" val="695790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6" name="Google Shape;176;p25"/>
          <p:cNvSpPr txBox="1">
            <a:spLocks noGrp="1"/>
          </p:cNvSpPr>
          <p:nvPr>
            <p:ph type="title"/>
          </p:nvPr>
        </p:nvSpPr>
        <p:spPr>
          <a:xfrm>
            <a:off x="86795" y="111441"/>
            <a:ext cx="6858000" cy="345000"/>
          </a:xfrm>
          <a:prstGeom prst="rect">
            <a:avLst/>
          </a:prstGeom>
        </p:spPr>
        <p:txBody>
          <a:bodyPr spcFirstLastPara="1" wrap="square" lIns="91425" tIns="91425" rIns="91425" bIns="91425" anchor="b" anchorCtr="0">
            <a:noAutofit/>
          </a:bodyPr>
          <a:lstStyle/>
          <a:p>
            <a:pPr lvl="0"/>
            <a:r>
              <a:rPr lang="en-IN" sz="2400" b="1" dirty="0"/>
              <a:t>Visualization Analysis</a:t>
            </a:r>
            <a:endParaRPr sz="2400" b="1" dirty="0"/>
          </a:p>
        </p:txBody>
      </p:sp>
      <p:sp>
        <p:nvSpPr>
          <p:cNvPr id="177" name="Google Shape;177;p25"/>
          <p:cNvSpPr/>
          <p:nvPr/>
        </p:nvSpPr>
        <p:spPr>
          <a:xfrm>
            <a:off x="3515795" y="20001"/>
            <a:ext cx="702000" cy="202500"/>
          </a:xfrm>
          <a:prstGeom prst="wedgeRectCallout">
            <a:avLst>
              <a:gd name="adj1" fmla="val -21428"/>
              <a:gd name="adj2" fmla="val 8428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b="1" dirty="0">
              <a:solidFill>
                <a:srgbClr val="F3F3F3"/>
              </a:solidFill>
              <a:latin typeface="Quicksand"/>
              <a:ea typeface="Quicksand"/>
              <a:cs typeface="Quicksand"/>
              <a:sym typeface="Quicksand"/>
            </a:endParaRPr>
          </a:p>
        </p:txBody>
      </p:sp>
      <p:sp>
        <p:nvSpPr>
          <p:cNvPr id="196" name="Google Shape;196;p25"/>
          <p:cNvSpPr txBox="1">
            <a:spLocks noGrp="1"/>
          </p:cNvSpPr>
          <p:nvPr>
            <p:ph type="sldNum" idx="12"/>
          </p:nvPr>
        </p:nvSpPr>
        <p:spPr>
          <a:xfrm>
            <a:off x="8523157" y="4752131"/>
            <a:ext cx="548700" cy="315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17</a:t>
            </a:fld>
            <a:endParaRPr/>
          </a:p>
        </p:txBody>
      </p:sp>
      <p:sp>
        <p:nvSpPr>
          <p:cNvPr id="3" name="TextBox 2">
            <a:extLst>
              <a:ext uri="{FF2B5EF4-FFF2-40B4-BE49-F238E27FC236}">
                <a16:creationId xmlns:a16="http://schemas.microsoft.com/office/drawing/2014/main" id="{497FA697-C871-44A3-B849-D04475B58DAC}"/>
              </a:ext>
            </a:extLst>
          </p:cNvPr>
          <p:cNvSpPr txBox="1"/>
          <p:nvPr/>
        </p:nvSpPr>
        <p:spPr>
          <a:xfrm>
            <a:off x="4869948" y="0"/>
            <a:ext cx="4201909" cy="5062924"/>
          </a:xfrm>
          <a:prstGeom prst="rect">
            <a:avLst/>
          </a:prstGeom>
          <a:noFill/>
        </p:spPr>
        <p:txBody>
          <a:bodyPr wrap="square">
            <a:spAutoFit/>
          </a:bodyPr>
          <a:lstStyle/>
          <a:p>
            <a:r>
              <a:rPr lang="en-US" sz="1900" dirty="0">
                <a:solidFill>
                  <a:schemeClr val="tx2"/>
                </a:solidFill>
              </a:rPr>
              <a:t>Visualization was performed using a scatter plot in the tool WEKA .</a:t>
            </a:r>
          </a:p>
          <a:p>
            <a:endParaRPr lang="en-US" sz="1900" dirty="0">
              <a:solidFill>
                <a:schemeClr val="tx2"/>
              </a:solidFill>
            </a:endParaRPr>
          </a:p>
          <a:p>
            <a:r>
              <a:rPr lang="en-US" sz="1900" dirty="0">
                <a:solidFill>
                  <a:schemeClr val="tx2"/>
                </a:solidFill>
              </a:rPr>
              <a:t>The scatter plot was used to observe the relationship between Attendance Percentage and CGPA .</a:t>
            </a:r>
          </a:p>
          <a:p>
            <a:endParaRPr lang="en-US" sz="1900" dirty="0">
              <a:solidFill>
                <a:schemeClr val="tx2"/>
              </a:solidFill>
            </a:endParaRPr>
          </a:p>
          <a:p>
            <a:r>
              <a:rPr lang="en-US" sz="1900" dirty="0">
                <a:solidFill>
                  <a:schemeClr val="tx2"/>
                </a:solidFill>
              </a:rPr>
              <a:t>From the graph, it  can be seen that students with higher attendance tend to have higher CGPA, while students with lower attendance tend to have lower CGPA .</a:t>
            </a:r>
          </a:p>
          <a:p>
            <a:r>
              <a:rPr lang="en-US" sz="1900" dirty="0">
                <a:solidFill>
                  <a:schemeClr val="tx2"/>
                </a:solidFill>
              </a:rPr>
              <a:t>Visualization helps to clearly understand patterns and relationships in the dataset before applying machine learning algorithms.                                           </a:t>
            </a:r>
            <a:endParaRPr lang="en-IN" sz="1900" dirty="0">
              <a:solidFill>
                <a:schemeClr val="tx2"/>
              </a:solidFill>
            </a:endParaRPr>
          </a:p>
        </p:txBody>
      </p:sp>
      <p:pic>
        <p:nvPicPr>
          <p:cNvPr id="5" name="Picture 4">
            <a:extLst>
              <a:ext uri="{FF2B5EF4-FFF2-40B4-BE49-F238E27FC236}">
                <a16:creationId xmlns:a16="http://schemas.microsoft.com/office/drawing/2014/main" id="{88448CFA-98A3-9581-377A-59E5D15284FB}"/>
              </a:ext>
            </a:extLst>
          </p:cNvPr>
          <p:cNvPicPr>
            <a:picLocks noChangeAspect="1"/>
          </p:cNvPicPr>
          <p:nvPr/>
        </p:nvPicPr>
        <p:blipFill>
          <a:blip r:embed="rId3"/>
          <a:srcRect r="33276" b="12723"/>
          <a:stretch>
            <a:fillRect/>
          </a:stretch>
        </p:blipFill>
        <p:spPr>
          <a:xfrm>
            <a:off x="199548" y="456441"/>
            <a:ext cx="4509224" cy="2066796"/>
          </a:xfrm>
          <a:prstGeom prst="rect">
            <a:avLst/>
          </a:prstGeom>
        </p:spPr>
      </p:pic>
      <p:pic>
        <p:nvPicPr>
          <p:cNvPr id="7" name="Picture 6">
            <a:extLst>
              <a:ext uri="{FF2B5EF4-FFF2-40B4-BE49-F238E27FC236}">
                <a16:creationId xmlns:a16="http://schemas.microsoft.com/office/drawing/2014/main" id="{2596E70A-D774-CF9C-C141-D263F0016582}"/>
              </a:ext>
            </a:extLst>
          </p:cNvPr>
          <p:cNvPicPr>
            <a:picLocks noChangeAspect="1"/>
          </p:cNvPicPr>
          <p:nvPr/>
        </p:nvPicPr>
        <p:blipFill>
          <a:blip r:embed="rId4"/>
          <a:stretch>
            <a:fillRect/>
          </a:stretch>
        </p:blipFill>
        <p:spPr>
          <a:xfrm>
            <a:off x="199548" y="2568568"/>
            <a:ext cx="4509224" cy="234121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5A8D-BAAC-D4C6-E258-E9441357FB97}"/>
              </a:ext>
            </a:extLst>
          </p:cNvPr>
          <p:cNvSpPr>
            <a:spLocks noGrp="1"/>
          </p:cNvSpPr>
          <p:nvPr>
            <p:ph type="title"/>
          </p:nvPr>
        </p:nvSpPr>
        <p:spPr>
          <a:xfrm>
            <a:off x="56169" y="64462"/>
            <a:ext cx="7770713" cy="345000"/>
          </a:xfrm>
        </p:spPr>
        <p:txBody>
          <a:bodyPr/>
          <a:lstStyle/>
          <a:p>
            <a:r>
              <a:rPr lang="en-US" sz="2000" b="1" dirty="0"/>
              <a:t>Association Rule Mining</a:t>
            </a:r>
            <a:endParaRPr lang="en-IN" sz="2000" b="1" dirty="0"/>
          </a:p>
        </p:txBody>
      </p:sp>
      <p:pic>
        <p:nvPicPr>
          <p:cNvPr id="5" name="Picture 4">
            <a:extLst>
              <a:ext uri="{FF2B5EF4-FFF2-40B4-BE49-F238E27FC236}">
                <a16:creationId xmlns:a16="http://schemas.microsoft.com/office/drawing/2014/main" id="{2DE5DF56-83FF-A336-2A15-0A00B6F3392C}"/>
              </a:ext>
            </a:extLst>
          </p:cNvPr>
          <p:cNvPicPr>
            <a:picLocks noChangeAspect="1"/>
          </p:cNvPicPr>
          <p:nvPr/>
        </p:nvPicPr>
        <p:blipFill>
          <a:blip r:embed="rId2"/>
          <a:srcRect t="2565" r="2421" b="10615"/>
          <a:stretch>
            <a:fillRect/>
          </a:stretch>
        </p:blipFill>
        <p:spPr>
          <a:xfrm>
            <a:off x="56169" y="341972"/>
            <a:ext cx="4991616" cy="4564566"/>
          </a:xfrm>
          <a:prstGeom prst="rect">
            <a:avLst/>
          </a:prstGeom>
        </p:spPr>
      </p:pic>
      <p:sp>
        <p:nvSpPr>
          <p:cNvPr id="7" name="TextBox 6">
            <a:extLst>
              <a:ext uri="{FF2B5EF4-FFF2-40B4-BE49-F238E27FC236}">
                <a16:creationId xmlns:a16="http://schemas.microsoft.com/office/drawing/2014/main" id="{E246A594-7FEF-67EC-23E3-07877BCE5D8A}"/>
              </a:ext>
            </a:extLst>
          </p:cNvPr>
          <p:cNvSpPr txBox="1"/>
          <p:nvPr/>
        </p:nvSpPr>
        <p:spPr>
          <a:xfrm>
            <a:off x="5047785" y="0"/>
            <a:ext cx="4572000" cy="5047536"/>
          </a:xfrm>
          <a:prstGeom prst="rect">
            <a:avLst/>
          </a:prstGeom>
          <a:noFill/>
        </p:spPr>
        <p:txBody>
          <a:bodyPr wrap="square">
            <a:spAutoFit/>
          </a:bodyPr>
          <a:lstStyle/>
          <a:p>
            <a:r>
              <a:rPr lang="en-IN" dirty="0">
                <a:solidFill>
                  <a:schemeClr val="bg1"/>
                </a:solidFill>
              </a:rPr>
              <a:t>Association Rule Mining (</a:t>
            </a:r>
            <a:r>
              <a:rPr lang="en-IN" dirty="0" err="1">
                <a:solidFill>
                  <a:schemeClr val="bg1"/>
                </a:solidFill>
              </a:rPr>
              <a:t>Apriori</a:t>
            </a:r>
            <a:r>
              <a:rPr lang="en-IN" dirty="0">
                <a:solidFill>
                  <a:schemeClr val="bg1"/>
                </a:solidFill>
              </a:rPr>
              <a:t>) is a data mining technique used to find relationships between </a:t>
            </a:r>
          </a:p>
          <a:p>
            <a:r>
              <a:rPr lang="en-IN" dirty="0">
                <a:solidFill>
                  <a:schemeClr val="bg1"/>
                </a:solidFill>
              </a:rPr>
              <a:t>different attributes in a dataset. It helps to discover patterns that show how student performance is influenced by factors like attendance and marks.</a:t>
            </a:r>
          </a:p>
          <a:p>
            <a:r>
              <a:rPr lang="en-IN" dirty="0">
                <a:solidFill>
                  <a:schemeClr val="bg1"/>
                </a:solidFill>
              </a:rPr>
              <a:t>◽ Total Instances: 2500</a:t>
            </a:r>
          </a:p>
          <a:p>
            <a:r>
              <a:rPr lang="en-IN" dirty="0">
                <a:solidFill>
                  <a:schemeClr val="bg1"/>
                </a:solidFill>
              </a:rPr>
              <a:t>◽ Number of Rules Generated: 20</a:t>
            </a:r>
          </a:p>
          <a:p>
            <a:r>
              <a:rPr lang="en-IN" dirty="0">
                <a:solidFill>
                  <a:schemeClr val="bg1"/>
                </a:solidFill>
              </a:rPr>
              <a:t>◽ Minimum Support: 0.02</a:t>
            </a:r>
          </a:p>
          <a:p>
            <a:r>
              <a:rPr lang="en-IN" dirty="0">
                <a:solidFill>
                  <a:schemeClr val="bg1"/>
                </a:solidFill>
              </a:rPr>
              <a:t>◽ Minimum Confidence: 0.6</a:t>
            </a:r>
          </a:p>
          <a:p>
            <a:r>
              <a:rPr lang="en-IN" dirty="0">
                <a:solidFill>
                  <a:schemeClr val="bg1"/>
                </a:solidFill>
              </a:rPr>
              <a:t>◽ Number of Cycles Performed: 20</a:t>
            </a:r>
          </a:p>
          <a:p>
            <a:r>
              <a:rPr lang="en-IN" dirty="0">
                <a:solidFill>
                  <a:schemeClr val="bg1"/>
                </a:solidFill>
              </a:rPr>
              <a:t>◽ Frequent </a:t>
            </a:r>
            <a:r>
              <a:rPr lang="en-IN" dirty="0" err="1">
                <a:solidFill>
                  <a:schemeClr val="bg1"/>
                </a:solidFill>
              </a:rPr>
              <a:t>Itemsets</a:t>
            </a:r>
            <a:r>
              <a:rPr lang="en-IN" dirty="0">
                <a:solidFill>
                  <a:schemeClr val="bg1"/>
                </a:solidFill>
              </a:rPr>
              <a:t>:</a:t>
            </a:r>
          </a:p>
          <a:p>
            <a:r>
              <a:rPr lang="en-IN" dirty="0">
                <a:solidFill>
                  <a:schemeClr val="bg1"/>
                </a:solidFill>
              </a:rPr>
              <a:t>• L(1): 33</a:t>
            </a:r>
          </a:p>
          <a:p>
            <a:r>
              <a:rPr lang="en-IN" dirty="0">
                <a:solidFill>
                  <a:schemeClr val="bg1"/>
                </a:solidFill>
              </a:rPr>
              <a:t>• L(2): 180</a:t>
            </a:r>
          </a:p>
          <a:p>
            <a:r>
              <a:rPr lang="en-IN" dirty="0">
                <a:solidFill>
                  <a:schemeClr val="bg1"/>
                </a:solidFill>
              </a:rPr>
              <a:t>• L(3): 58</a:t>
            </a:r>
          </a:p>
          <a:p>
            <a:r>
              <a:rPr lang="en-IN" dirty="0">
                <a:solidFill>
                  <a:schemeClr val="bg1"/>
                </a:solidFill>
              </a:rPr>
              <a:t>◽ Attributes Used: Attendance, Internal Marks, </a:t>
            </a:r>
          </a:p>
          <a:p>
            <a:r>
              <a:rPr lang="en-IN" dirty="0">
                <a:solidFill>
                  <a:schemeClr val="bg1"/>
                </a:solidFill>
              </a:rPr>
              <a:t>Final Exam Marks, CGPA, Performance Status</a:t>
            </a:r>
          </a:p>
          <a:p>
            <a:r>
              <a:rPr lang="en-IN" dirty="0">
                <a:solidFill>
                  <a:schemeClr val="bg1"/>
                </a:solidFill>
              </a:rPr>
              <a:t>◽ Key Findings:</a:t>
            </a:r>
          </a:p>
          <a:p>
            <a:r>
              <a:rPr lang="en-IN" dirty="0">
                <a:solidFill>
                  <a:schemeClr val="bg1"/>
                </a:solidFill>
              </a:rPr>
              <a:t>• Low attendance is strongly associated with poor performance</a:t>
            </a:r>
          </a:p>
          <a:p>
            <a:r>
              <a:rPr lang="en-IN" dirty="0">
                <a:solidFill>
                  <a:schemeClr val="bg1"/>
                </a:solidFill>
              </a:rPr>
              <a:t>• Medium attendance and marks lead to average performance</a:t>
            </a:r>
          </a:p>
          <a:p>
            <a:r>
              <a:rPr lang="en-IN" dirty="0">
                <a:solidFill>
                  <a:schemeClr val="bg1"/>
                </a:solidFill>
              </a:rPr>
              <a:t>• High attendance and internal marks lead to good performance</a:t>
            </a:r>
          </a:p>
        </p:txBody>
      </p:sp>
    </p:spTree>
    <p:extLst>
      <p:ext uri="{BB962C8B-B14F-4D97-AF65-F5344CB8AC3E}">
        <p14:creationId xmlns:p14="http://schemas.microsoft.com/office/powerpoint/2010/main" val="3804810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6"/>
          <p:cNvSpPr txBox="1">
            <a:spLocks noGrp="1"/>
          </p:cNvSpPr>
          <p:nvPr>
            <p:ph type="ctrTitle" idx="4294967295"/>
          </p:nvPr>
        </p:nvSpPr>
        <p:spPr>
          <a:xfrm>
            <a:off x="902825" y="1"/>
            <a:ext cx="3842795" cy="3136738"/>
          </a:xfrm>
          <a:prstGeom prst="rect">
            <a:avLst/>
          </a:prstGeom>
        </p:spPr>
        <p:txBody>
          <a:bodyPr spcFirstLastPara="1" wrap="square" lIns="91425" tIns="91425" rIns="91425" bIns="91425" anchor="ctr" anchorCtr="0">
            <a:noAutofit/>
          </a:bodyPr>
          <a:lstStyle/>
          <a:p>
            <a:pPr lvl="0"/>
            <a:r>
              <a:rPr lang="en-US" sz="2000" b="1" dirty="0">
                <a:solidFill>
                  <a:schemeClr val="dk1"/>
                </a:solidFill>
              </a:rPr>
              <a:t>Objectives</a:t>
            </a:r>
            <a:br>
              <a:rPr lang="en-US" sz="2000" b="1" dirty="0">
                <a:solidFill>
                  <a:schemeClr val="dk1"/>
                </a:solidFill>
              </a:rPr>
            </a:br>
            <a:r>
              <a:rPr lang="en-US" sz="2000" dirty="0">
                <a:solidFill>
                  <a:schemeClr val="dk1"/>
                </a:solidFill>
              </a:rPr>
              <a:t> ◾</a:t>
            </a:r>
            <a:r>
              <a:rPr lang="en-US" sz="2000" dirty="0">
                <a:solidFill>
                  <a:schemeClr val="bg1"/>
                </a:solidFill>
              </a:rPr>
              <a:t>Analyze attendance data</a:t>
            </a:r>
            <a:br>
              <a:rPr lang="en-US" sz="2000" dirty="0">
                <a:solidFill>
                  <a:schemeClr val="bg1"/>
                </a:solidFill>
              </a:rPr>
            </a:br>
            <a:r>
              <a:rPr lang="en-US" sz="2000" dirty="0">
                <a:solidFill>
                  <a:schemeClr val="bg1"/>
                </a:solidFill>
              </a:rPr>
              <a:t> </a:t>
            </a:r>
            <a:r>
              <a:rPr lang="en-US" sz="2000" dirty="0">
                <a:solidFill>
                  <a:schemeClr val="dk1"/>
                </a:solidFill>
              </a:rPr>
              <a:t>◾ </a:t>
            </a:r>
            <a:r>
              <a:rPr lang="en-US" sz="2000" dirty="0">
                <a:solidFill>
                  <a:schemeClr val="bg1"/>
                </a:solidFill>
              </a:rPr>
              <a:t>Study attendance-performance relationship</a:t>
            </a:r>
            <a:br>
              <a:rPr lang="en-US" sz="2000" dirty="0">
                <a:solidFill>
                  <a:schemeClr val="bg1"/>
                </a:solidFill>
              </a:rPr>
            </a:br>
            <a:r>
              <a:rPr lang="en-US" sz="2000" dirty="0">
                <a:solidFill>
                  <a:schemeClr val="bg1"/>
                </a:solidFill>
              </a:rPr>
              <a:t> </a:t>
            </a:r>
            <a:r>
              <a:rPr lang="en-US" sz="2000" dirty="0">
                <a:solidFill>
                  <a:schemeClr val="dk1"/>
                </a:solidFill>
              </a:rPr>
              <a:t>◾ </a:t>
            </a:r>
            <a:r>
              <a:rPr lang="en-US" sz="2000" dirty="0">
                <a:solidFill>
                  <a:schemeClr val="bg1"/>
                </a:solidFill>
              </a:rPr>
              <a:t>Classify students into Good, Average, Poor</a:t>
            </a:r>
            <a:br>
              <a:rPr lang="en-US" sz="2000" dirty="0">
                <a:solidFill>
                  <a:schemeClr val="bg1"/>
                </a:solidFill>
              </a:rPr>
            </a:br>
            <a:r>
              <a:rPr lang="en-US" sz="2000" dirty="0">
                <a:solidFill>
                  <a:schemeClr val="bg1"/>
                </a:solidFill>
              </a:rPr>
              <a:t> </a:t>
            </a:r>
            <a:r>
              <a:rPr lang="en-US" sz="2000" dirty="0">
                <a:solidFill>
                  <a:schemeClr val="dk1"/>
                </a:solidFill>
              </a:rPr>
              <a:t>◾ </a:t>
            </a:r>
            <a:r>
              <a:rPr lang="en-US" sz="2000" dirty="0">
                <a:solidFill>
                  <a:schemeClr val="bg1"/>
                </a:solidFill>
              </a:rPr>
              <a:t>Apply clustering to group</a:t>
            </a:r>
            <a:br>
              <a:rPr lang="en-US" sz="2000" dirty="0">
                <a:solidFill>
                  <a:schemeClr val="bg1"/>
                </a:solidFill>
              </a:rPr>
            </a:br>
            <a:r>
              <a:rPr lang="en-US" sz="2000" dirty="0">
                <a:solidFill>
                  <a:schemeClr val="bg1"/>
                </a:solidFill>
              </a:rPr>
              <a:t> similar students</a:t>
            </a:r>
            <a:br>
              <a:rPr lang="en-US" sz="2000" dirty="0">
                <a:solidFill>
                  <a:schemeClr val="bg1"/>
                </a:solidFill>
              </a:rPr>
            </a:br>
            <a:r>
              <a:rPr lang="en-US" sz="2000" dirty="0">
                <a:solidFill>
                  <a:schemeClr val="bg1"/>
                </a:solidFill>
              </a:rPr>
              <a:t> </a:t>
            </a:r>
            <a:r>
              <a:rPr lang="en-US" sz="2000" dirty="0">
                <a:solidFill>
                  <a:schemeClr val="dk1"/>
                </a:solidFill>
              </a:rPr>
              <a:t>◾ </a:t>
            </a:r>
            <a:r>
              <a:rPr lang="en-US" sz="2000" dirty="0">
                <a:solidFill>
                  <a:schemeClr val="bg1"/>
                </a:solidFill>
              </a:rPr>
              <a:t>Generate academic </a:t>
            </a:r>
            <a:br>
              <a:rPr lang="en-US" sz="2000" dirty="0">
                <a:solidFill>
                  <a:schemeClr val="bg1"/>
                </a:solidFill>
              </a:rPr>
            </a:br>
            <a:r>
              <a:rPr lang="en-US" sz="2000" dirty="0">
                <a:solidFill>
                  <a:schemeClr val="bg1"/>
                </a:solidFill>
              </a:rPr>
              <a:t>improvement insights</a:t>
            </a:r>
            <a:endParaRPr sz="2000" dirty="0">
              <a:solidFill>
                <a:schemeClr val="bg1"/>
              </a:solidFill>
            </a:endParaRPr>
          </a:p>
        </p:txBody>
      </p:sp>
      <p:sp>
        <p:nvSpPr>
          <p:cNvPr id="202" name="Google Shape;202;p26"/>
          <p:cNvSpPr txBox="1">
            <a:spLocks noGrp="1"/>
          </p:cNvSpPr>
          <p:nvPr>
            <p:ph type="subTitle" idx="4294967295"/>
          </p:nvPr>
        </p:nvSpPr>
        <p:spPr>
          <a:xfrm>
            <a:off x="4745620" y="-136021"/>
            <a:ext cx="4825100" cy="2707771"/>
          </a:xfrm>
          <a:prstGeom prst="rect">
            <a:avLst/>
          </a:prstGeom>
        </p:spPr>
        <p:txBody>
          <a:bodyPr spcFirstLastPara="1" wrap="square" lIns="91425" tIns="91425" rIns="91425" bIns="91425" anchor="t" anchorCtr="0">
            <a:noAutofit/>
          </a:bodyPr>
          <a:lstStyle/>
          <a:p>
            <a:pPr marL="0" lvl="0" indent="0">
              <a:buNone/>
            </a:pPr>
            <a:r>
              <a:rPr lang="en-US" sz="2000" b="1" dirty="0">
                <a:solidFill>
                  <a:schemeClr val="tx1"/>
                </a:solidFill>
              </a:rPr>
              <a:t>Scope of the Project</a:t>
            </a:r>
            <a:r>
              <a:rPr lang="en-US" b="1" dirty="0">
                <a:solidFill>
                  <a:schemeClr val="tx1"/>
                </a:solidFill>
              </a:rPr>
              <a:t>:</a:t>
            </a:r>
          </a:p>
          <a:p>
            <a:pPr marL="0" lvl="0" indent="0">
              <a:buNone/>
            </a:pPr>
            <a:r>
              <a:rPr lang="en-US" dirty="0">
                <a:solidFill>
                  <a:schemeClr val="dk1"/>
                </a:solidFill>
              </a:rPr>
              <a:t>◾</a:t>
            </a:r>
            <a:r>
              <a:rPr lang="en-US" dirty="0"/>
              <a:t> </a:t>
            </a:r>
            <a:r>
              <a:rPr lang="en-US" sz="2000" dirty="0"/>
              <a:t>Can be implemented in: Schools</a:t>
            </a:r>
          </a:p>
          <a:p>
            <a:pPr marL="0" lvl="0" indent="0">
              <a:buNone/>
            </a:pPr>
            <a:r>
              <a:rPr lang="en-US" sz="2000" dirty="0"/>
              <a:t>Colleges</a:t>
            </a:r>
          </a:p>
          <a:p>
            <a:pPr marL="0" lvl="0" indent="0">
              <a:buNone/>
            </a:pPr>
            <a:r>
              <a:rPr lang="en-US" sz="2000" dirty="0"/>
              <a:t> </a:t>
            </a:r>
            <a:r>
              <a:rPr lang="en-US" sz="2000" dirty="0">
                <a:solidFill>
                  <a:schemeClr val="dk1"/>
                </a:solidFill>
              </a:rPr>
              <a:t>◾ </a:t>
            </a:r>
            <a:r>
              <a:rPr lang="en-US" sz="2000" dirty="0"/>
              <a:t>Benefits: Early identification of </a:t>
            </a:r>
          </a:p>
          <a:p>
            <a:pPr marL="0" lvl="0" indent="0">
              <a:buNone/>
            </a:pPr>
            <a:r>
              <a:rPr lang="en-US" sz="2000" dirty="0"/>
              <a:t>weak students</a:t>
            </a:r>
          </a:p>
          <a:p>
            <a:pPr marL="0" lvl="0" indent="0">
              <a:buNone/>
            </a:pPr>
            <a:r>
              <a:rPr lang="en-US" sz="2000" dirty="0"/>
              <a:t> </a:t>
            </a:r>
            <a:r>
              <a:rPr lang="en-US" sz="2000" dirty="0">
                <a:solidFill>
                  <a:schemeClr val="dk1"/>
                </a:solidFill>
              </a:rPr>
              <a:t>◾ </a:t>
            </a:r>
            <a:r>
              <a:rPr lang="en-US" sz="2000" dirty="0"/>
              <a:t>Supports faculty decision-making</a:t>
            </a:r>
            <a:endParaRPr sz="2000" dirty="0"/>
          </a:p>
        </p:txBody>
      </p:sp>
      <p:sp>
        <p:nvSpPr>
          <p:cNvPr id="3" name="TextBox 2">
            <a:extLst>
              <a:ext uri="{FF2B5EF4-FFF2-40B4-BE49-F238E27FC236}">
                <a16:creationId xmlns:a16="http://schemas.microsoft.com/office/drawing/2014/main" id="{056734DF-251F-57D8-D71D-E5715095ECED}"/>
              </a:ext>
            </a:extLst>
          </p:cNvPr>
          <p:cNvSpPr txBox="1"/>
          <p:nvPr/>
        </p:nvSpPr>
        <p:spPr>
          <a:xfrm>
            <a:off x="1088020" y="3272761"/>
            <a:ext cx="7937538" cy="1631216"/>
          </a:xfrm>
          <a:prstGeom prst="rect">
            <a:avLst/>
          </a:prstGeom>
          <a:noFill/>
        </p:spPr>
        <p:txBody>
          <a:bodyPr wrap="square">
            <a:spAutoFit/>
          </a:bodyPr>
          <a:lstStyle/>
          <a:p>
            <a:r>
              <a:rPr lang="en-IN" sz="1600" dirty="0"/>
              <a:t> </a:t>
            </a:r>
            <a:r>
              <a:rPr lang="en-IN" sz="2000" b="1" dirty="0"/>
              <a:t>Future Enhancements</a:t>
            </a:r>
            <a:r>
              <a:rPr lang="en-IN" sz="1600" b="1" dirty="0"/>
              <a:t>:</a:t>
            </a:r>
          </a:p>
          <a:p>
            <a:r>
              <a:rPr lang="en-US" sz="2000" dirty="0">
                <a:solidFill>
                  <a:schemeClr val="dk1"/>
                </a:solidFill>
              </a:rPr>
              <a:t>◾ </a:t>
            </a:r>
            <a:r>
              <a:rPr lang="en-IN" sz="2000" dirty="0">
                <a:solidFill>
                  <a:schemeClr val="bg1"/>
                </a:solidFill>
                <a:latin typeface="Quicksand" panose="020B0604020202020204" charset="0"/>
              </a:rPr>
              <a:t>Add assignment marks</a:t>
            </a:r>
          </a:p>
          <a:p>
            <a:r>
              <a:rPr lang="en-US" sz="2000" dirty="0">
                <a:solidFill>
                  <a:schemeClr val="dk1"/>
                </a:solidFill>
              </a:rPr>
              <a:t>◾</a:t>
            </a:r>
            <a:r>
              <a:rPr lang="en-IN" sz="2000" dirty="0" err="1">
                <a:solidFill>
                  <a:schemeClr val="bg1"/>
                </a:solidFill>
                <a:latin typeface="Quicksand" panose="020B0604020202020204" charset="0"/>
              </a:rPr>
              <a:t>Behavioral</a:t>
            </a:r>
            <a:r>
              <a:rPr lang="en-IN" sz="2000" dirty="0">
                <a:solidFill>
                  <a:schemeClr val="bg1"/>
                </a:solidFill>
                <a:latin typeface="Quicksand" panose="020B0604020202020204" charset="0"/>
              </a:rPr>
              <a:t> data</a:t>
            </a:r>
          </a:p>
          <a:p>
            <a:r>
              <a:rPr lang="en-US" sz="2000" dirty="0">
                <a:solidFill>
                  <a:schemeClr val="dk1"/>
                </a:solidFill>
              </a:rPr>
              <a:t>◾ </a:t>
            </a:r>
            <a:r>
              <a:rPr lang="en-IN" sz="2000" dirty="0">
                <a:solidFill>
                  <a:schemeClr val="bg1"/>
                </a:solidFill>
                <a:latin typeface="Quicksand" panose="020B0604020202020204" charset="0"/>
              </a:rPr>
              <a:t>Real-time dashboards</a:t>
            </a:r>
          </a:p>
          <a:p>
            <a:r>
              <a:rPr lang="en-US" sz="2000" dirty="0">
                <a:solidFill>
                  <a:schemeClr val="dk1"/>
                </a:solidFill>
              </a:rPr>
              <a:t>◾ </a:t>
            </a:r>
            <a:r>
              <a:rPr lang="en-IN" sz="2000" dirty="0">
                <a:solidFill>
                  <a:schemeClr val="bg1"/>
                </a:solidFill>
                <a:latin typeface="Quicksand" panose="020B0604020202020204" charset="0"/>
              </a:rPr>
              <a:t>Advanced ML algorithms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7"/>
          <p:cNvSpPr txBox="1">
            <a:spLocks noGrp="1"/>
          </p:cNvSpPr>
          <p:nvPr>
            <p:ph type="ctrTitle" idx="4294967295"/>
          </p:nvPr>
        </p:nvSpPr>
        <p:spPr>
          <a:xfrm>
            <a:off x="1284950" y="705150"/>
            <a:ext cx="7097100" cy="894900"/>
          </a:xfrm>
          <a:prstGeom prst="rect">
            <a:avLst/>
          </a:prstGeom>
        </p:spPr>
        <p:txBody>
          <a:bodyPr spcFirstLastPara="1" wrap="square" lIns="91425" tIns="91425" rIns="91425" bIns="91425" anchor="b" anchorCtr="0">
            <a:noAutofit/>
          </a:bodyPr>
          <a:lstStyle/>
          <a:p>
            <a:pPr lvl="0"/>
            <a:r>
              <a:rPr lang="en-IN" sz="4800" b="1" dirty="0"/>
              <a:t>Conclusion</a:t>
            </a:r>
            <a:endParaRPr sz="4800" b="1" dirty="0"/>
          </a:p>
        </p:txBody>
      </p:sp>
      <p:sp>
        <p:nvSpPr>
          <p:cNvPr id="209" name="Google Shape;209;p27"/>
          <p:cNvSpPr txBox="1">
            <a:spLocks noGrp="1"/>
          </p:cNvSpPr>
          <p:nvPr>
            <p:ph type="subTitle" idx="4294967295"/>
          </p:nvPr>
        </p:nvSpPr>
        <p:spPr>
          <a:xfrm>
            <a:off x="1147072" y="1727200"/>
            <a:ext cx="7650435" cy="2631440"/>
          </a:xfrm>
          <a:prstGeom prst="rect">
            <a:avLst/>
          </a:prstGeom>
        </p:spPr>
        <p:txBody>
          <a:bodyPr spcFirstLastPara="1" wrap="square" lIns="91425" tIns="91425" rIns="91425" bIns="91425" anchor="t" anchorCtr="0">
            <a:noAutofit/>
          </a:bodyPr>
          <a:lstStyle/>
          <a:p>
            <a:pPr marL="0" lvl="0" indent="0">
              <a:buNone/>
            </a:pPr>
            <a:r>
              <a:rPr lang="en-US" sz="2800" dirty="0"/>
              <a:t>Successfully applied data mining techniques J48 achieved 79.72% accuracy</a:t>
            </a:r>
          </a:p>
          <a:p>
            <a:pPr marL="0" lvl="0" indent="0">
              <a:buNone/>
            </a:pPr>
            <a:r>
              <a:rPr lang="en-US" sz="2800" dirty="0"/>
              <a:t>Strong relationship between attendance &amp; performance</a:t>
            </a:r>
            <a:endParaRPr sz="2800" dirty="0"/>
          </a:p>
        </p:txBody>
      </p:sp>
      <p:sp>
        <p:nvSpPr>
          <p:cNvPr id="215" name="Google Shape;215;p27"/>
          <p:cNvSpPr/>
          <p:nvPr/>
        </p:nvSpPr>
        <p:spPr>
          <a:xfrm>
            <a:off x="844675" y="1051650"/>
            <a:ext cx="201900" cy="201900"/>
          </a:xfrm>
          <a:prstGeom prst="ellipse">
            <a:avLst/>
          </a:prstGeom>
          <a:solidFill>
            <a:srgbClr val="2E3037"/>
          </a:solidFill>
          <a:ln w="9525" cap="flat" cmpd="sng">
            <a:solidFill>
              <a:srgbClr val="999F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7"/>
          <p:cNvSpPr/>
          <p:nvPr/>
        </p:nvSpPr>
        <p:spPr>
          <a:xfrm>
            <a:off x="844675" y="3680550"/>
            <a:ext cx="201900" cy="201900"/>
          </a:xfrm>
          <a:prstGeom prst="ellipse">
            <a:avLst/>
          </a:prstGeom>
          <a:solidFill>
            <a:srgbClr val="2E3037"/>
          </a:solidFill>
          <a:ln w="9525" cap="flat" cmpd="sng">
            <a:solidFill>
              <a:srgbClr val="999F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3"/>
          <p:cNvSpPr txBox="1">
            <a:spLocks noGrp="1"/>
          </p:cNvSpPr>
          <p:nvPr>
            <p:ph type="body" idx="4294967295"/>
          </p:nvPr>
        </p:nvSpPr>
        <p:spPr>
          <a:xfrm>
            <a:off x="3620071" y="1846729"/>
            <a:ext cx="2325600" cy="1647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4800" b="1" dirty="0"/>
              <a:t>THANK YOU</a:t>
            </a:r>
            <a:endParaRPr sz="4400" b="1" dirty="0"/>
          </a:p>
        </p:txBody>
      </p:sp>
      <p:grpSp>
        <p:nvGrpSpPr>
          <p:cNvPr id="325" name="Google Shape;325;p33"/>
          <p:cNvGrpSpPr/>
          <p:nvPr/>
        </p:nvGrpSpPr>
        <p:grpSpPr>
          <a:xfrm>
            <a:off x="2300897" y="1399295"/>
            <a:ext cx="4542205" cy="2661224"/>
            <a:chOff x="3938374" y="1462324"/>
            <a:chExt cx="4542205" cy="2661224"/>
          </a:xfrm>
        </p:grpSpPr>
        <p:sp>
          <p:nvSpPr>
            <p:cNvPr id="326" name="Google Shape;326;p33"/>
            <p:cNvSpPr/>
            <p:nvPr/>
          </p:nvSpPr>
          <p:spPr>
            <a:xfrm>
              <a:off x="4309824" y="1462324"/>
              <a:ext cx="3797910" cy="2542169"/>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33"/>
            <p:cNvSpPr/>
            <p:nvPr/>
          </p:nvSpPr>
          <p:spPr>
            <a:xfrm>
              <a:off x="3938374" y="4053515"/>
              <a:ext cx="4542205" cy="70032"/>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33"/>
            <p:cNvSpPr/>
            <p:nvPr/>
          </p:nvSpPr>
          <p:spPr>
            <a:xfrm>
              <a:off x="3938374" y="3997489"/>
              <a:ext cx="4541505" cy="56025"/>
            </a:xfrm>
            <a:custGeom>
              <a:avLst/>
              <a:gdLst/>
              <a:ahLst/>
              <a:cxnLst/>
              <a:rect l="l" t="t" r="r" b="b"/>
              <a:pathLst>
                <a:path w="6172200" h="76142" extrusionOk="0">
                  <a:moveTo>
                    <a:pt x="0" y="76143"/>
                  </a:moveTo>
                  <a:lnTo>
                    <a:pt x="6172200" y="76143"/>
                  </a:lnTo>
                  <a:lnTo>
                    <a:pt x="6172200" y="0"/>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33"/>
            <p:cNvSpPr/>
            <p:nvPr/>
          </p:nvSpPr>
          <p:spPr>
            <a:xfrm>
              <a:off x="5872718" y="3997489"/>
              <a:ext cx="665106" cy="35016"/>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Eleanor template">
  <a:themeElements>
    <a:clrScheme name="Custom 347">
      <a:dk1>
        <a:srgbClr val="2E3037"/>
      </a:dk1>
      <a:lt1>
        <a:srgbClr val="FFFFFF"/>
      </a:lt1>
      <a:dk2>
        <a:srgbClr val="666666"/>
      </a:dk2>
      <a:lt2>
        <a:srgbClr val="F3F3F3"/>
      </a:lt2>
      <a:accent1>
        <a:srgbClr val="39C0BA"/>
      </a:accent1>
      <a:accent2>
        <a:srgbClr val="90E6E2"/>
      </a:accent2>
      <a:accent3>
        <a:srgbClr val="F35B69"/>
      </a:accent3>
      <a:accent4>
        <a:srgbClr val="FAB2B9"/>
      </a:accent4>
      <a:accent5>
        <a:srgbClr val="999FA9"/>
      </a:accent5>
      <a:accent6>
        <a:srgbClr val="E2E7EE"/>
      </a:accent6>
      <a:hlink>
        <a:srgbClr val="39C0B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0260ce4-cdaf-4108-9343-32bc6789a1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20013F5A9BC3A4CB32E870EE9784523" ma:contentTypeVersion="5" ma:contentTypeDescription="Create a new document." ma:contentTypeScope="" ma:versionID="c226ffc0503f6c51f49abe21397f1b28">
  <xsd:schema xmlns:xsd="http://www.w3.org/2001/XMLSchema" xmlns:xs="http://www.w3.org/2001/XMLSchema" xmlns:p="http://schemas.microsoft.com/office/2006/metadata/properties" xmlns:ns3="10260ce4-cdaf-4108-9343-32bc6789a17e" targetNamespace="http://schemas.microsoft.com/office/2006/metadata/properties" ma:root="true" ma:fieldsID="d043ffb6345ef67c7eb5f430e69d35ab" ns3:_="">
    <xsd:import namespace="10260ce4-cdaf-4108-9343-32bc6789a17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260ce4-cdaf-4108-9343-32bc6789a17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FAB55C-F095-4C0E-ADBA-1E48F2B67177}">
  <ds:schemaRefs>
    <ds:schemaRef ds:uri="http://schemas.microsoft.com/sharepoint/v3/contenttype/forms"/>
  </ds:schemaRefs>
</ds:datastoreItem>
</file>

<file path=customXml/itemProps2.xml><?xml version="1.0" encoding="utf-8"?>
<ds:datastoreItem xmlns:ds="http://schemas.openxmlformats.org/officeDocument/2006/customXml" ds:itemID="{6EBB9375-3711-4099-A968-86744F06B9A3}">
  <ds:schemaRefs>
    <ds:schemaRef ds:uri="http://schemas.microsoft.com/office/2006/documentManagement/types"/>
    <ds:schemaRef ds:uri="http://purl.org/dc/elements/1.1/"/>
    <ds:schemaRef ds:uri="http://schemas.openxmlformats.org/package/2006/metadata/core-properties"/>
    <ds:schemaRef ds:uri="http://www.w3.org/XML/1998/namespace"/>
    <ds:schemaRef ds:uri="http://purl.org/dc/dcmitype/"/>
    <ds:schemaRef ds:uri="http://schemas.microsoft.com/office/infopath/2007/PartnerControls"/>
    <ds:schemaRef ds:uri="10260ce4-cdaf-4108-9343-32bc6789a17e"/>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D549DF96-8A7A-453E-856F-13E47548E7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260ce4-cdaf-4108-9343-32bc6789a1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371</TotalTime>
  <Words>1466</Words>
  <Application>Microsoft Office PowerPoint</Application>
  <PresentationFormat>On-screen Show (16:9)</PresentationFormat>
  <Paragraphs>154</Paragraphs>
  <Slides>21</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Times New Roman</vt:lpstr>
      <vt:lpstr>Calibri</vt:lpstr>
      <vt:lpstr>Arial</vt:lpstr>
      <vt:lpstr>Quicksand</vt:lpstr>
      <vt:lpstr>Atala</vt:lpstr>
      <vt:lpstr>Eleanor template</vt:lpstr>
      <vt:lpstr>Data Mining Cornerstone  Project(Review:3)   ATTENDANCE ANALYSIS SYSTEM </vt:lpstr>
      <vt:lpstr>PowerPoint Presentation</vt:lpstr>
      <vt:lpstr>Problem Statement</vt:lpstr>
      <vt:lpstr>INTRODUCTION</vt:lpstr>
      <vt:lpstr>Tools &amp; Methodologies Used</vt:lpstr>
      <vt:lpstr>PowerPoint Presentation</vt:lpstr>
      <vt:lpstr>Dataset Description</vt:lpstr>
      <vt:lpstr>PowerPoint Presentation</vt:lpstr>
      <vt:lpstr>Duplicate Removal</vt:lpstr>
      <vt:lpstr>Irrelevant Attribute Removal:   </vt:lpstr>
      <vt:lpstr>Missing Value Check:    </vt:lpstr>
      <vt:lpstr>Normalization: </vt:lpstr>
      <vt:lpstr>Standardization  :    </vt:lpstr>
      <vt:lpstr>   Classification :</vt:lpstr>
      <vt:lpstr>Student Performance Classification using Decision Tree:</vt:lpstr>
      <vt:lpstr>   Clustering (Simple K-Means) :   </vt:lpstr>
      <vt:lpstr>Visualization Analysis</vt:lpstr>
      <vt:lpstr>Association Rule Mining</vt:lpstr>
      <vt:lpstr>Objectives  ◾Analyze attendance data  ◾ Study attendance-performance relationship  ◾ Classify students into Good, Average, Poor  ◾ Apply clustering to group  similar students  ◾ Generate academic  improvement insights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yamini</dc:creator>
  <cp:lastModifiedBy>24B11DS208</cp:lastModifiedBy>
  <cp:revision>7</cp:revision>
  <dcterms:modified xsi:type="dcterms:W3CDTF">2026-03-24T16:03:26Z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0x010100420013F5A9BC3A4CB32E870EE9784523</vt:lpwstr>
  </property>
</Properties>
</file>